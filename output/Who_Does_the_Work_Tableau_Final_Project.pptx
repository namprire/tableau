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4904892d974385" /><Relationship Type="http://schemas.openxmlformats.org/officeDocument/2006/relationships/extended-properties" Target="/docProps/app.xml" Id="Ra3126550b3be4ac5" /><Relationship Type="http://schemas.openxmlformats.org/officeDocument/2006/relationships/officeDocument" Target="/ppt/presentation.xml" Id="R515cd0094ef7438d" /></Relationships>
</file>

<file path=ppt/presentation.xml><?xml version="1.0" encoding="utf-8"?>
<p:presentation xmlns:p="http://schemas.openxmlformats.org/presentationml/2006/main">
  <p:sldMasterIdLst>
    <p:sldMasterId xmlns:r="http://schemas.openxmlformats.org/officeDocument/2006/relationships" id="2147483648" r:id="Ra865075b297747cf"/>
  </p:sldMasterIdLst>
  <p:notesMasterIdLst>
    <p:notesMasterId xmlns:r="http://schemas.openxmlformats.org/officeDocument/2006/relationships" r:id="R0edee8b5e0b644e2"/>
  </p:notesMasterIdLst>
  <p:sldIdLst>
    <p:sldId xmlns:r="http://schemas.openxmlformats.org/officeDocument/2006/relationships" id="256" r:id="R156114e226164932"/>
    <p:sldId xmlns:r="http://schemas.openxmlformats.org/officeDocument/2006/relationships" id="257" r:id="R8f50cf6ebda34a93"/>
    <p:sldId xmlns:r="http://schemas.openxmlformats.org/officeDocument/2006/relationships" id="258" r:id="R221e6a1900c74b02"/>
    <p:sldId xmlns:r="http://schemas.openxmlformats.org/officeDocument/2006/relationships" id="259" r:id="Re7908981f1c1489a"/>
    <p:sldId xmlns:r="http://schemas.openxmlformats.org/officeDocument/2006/relationships" id="260" r:id="R9ba6c644c7154037"/>
    <p:sldId xmlns:r="http://schemas.openxmlformats.org/officeDocument/2006/relationships" id="261" r:id="Rcb865fd5280645c1"/>
    <p:sldId xmlns:r="http://schemas.openxmlformats.org/officeDocument/2006/relationships" id="262" r:id="R2ff21f4f6a074993"/>
    <p:sldId xmlns:r="http://schemas.openxmlformats.org/officeDocument/2006/relationships" id="263" r:id="R6d598fcab24245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fc24d89e7747c0" /><Relationship Type="http://schemas.openxmlformats.org/officeDocument/2006/relationships/slideMaster" Target="/ppt/slideMasters/slideMaster1.xml" Id="Ra865075b297747cf" /><Relationship Type="http://schemas.openxmlformats.org/officeDocument/2006/relationships/notesMaster" Target="/ppt/notesMasters/notesMaster1.xml" Id="R0edee8b5e0b644e2" /><Relationship Type="http://schemas.openxmlformats.org/officeDocument/2006/relationships/presProps" Target="/ppt/presProps.xml" Id="R686dd043e00d42f2" /><Relationship Type="http://schemas.openxmlformats.org/officeDocument/2006/relationships/tableStyles" Target="/ppt/tableStyles.xml" Id="Rc114d709bbec4ff3" /><Relationship Type="http://schemas.openxmlformats.org/officeDocument/2006/relationships/slide" Target="/ppt/slides/slide1.xml" Id="R156114e226164932" /><Relationship Type="http://schemas.openxmlformats.org/officeDocument/2006/relationships/slide" Target="/ppt/slides/slide2.xml" Id="R8f50cf6ebda34a93" /><Relationship Type="http://schemas.openxmlformats.org/officeDocument/2006/relationships/slide" Target="/ppt/slides/slide3.xml" Id="R221e6a1900c74b02" /><Relationship Type="http://schemas.openxmlformats.org/officeDocument/2006/relationships/slide" Target="/ppt/slides/slide4.xml" Id="Re7908981f1c1489a" /><Relationship Type="http://schemas.openxmlformats.org/officeDocument/2006/relationships/slide" Target="/ppt/slides/slide5.xml" Id="R9ba6c644c7154037" /><Relationship Type="http://schemas.openxmlformats.org/officeDocument/2006/relationships/slide" Target="/ppt/slides/slide6.xml" Id="Rcb865fd5280645c1" /><Relationship Type="http://schemas.openxmlformats.org/officeDocument/2006/relationships/slide" Target="/ppt/slides/slide7.xml" Id="R2ff21f4f6a074993" /><Relationship Type="http://schemas.openxmlformats.org/officeDocument/2006/relationships/slide" Target="/ppt/slides/slide8.xml" Id="R6d598fcab24245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a7a218cb514f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9b8d659f8547c9" /><Relationship Type="http://schemas.openxmlformats.org/officeDocument/2006/relationships/notesMaster" Target="/ppt/notesMasters/notesMaster1.xml" Id="R27394f22735b4f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f94e35499e4698" /><Relationship Type="http://schemas.openxmlformats.org/officeDocument/2006/relationships/notesMaster" Target="/ppt/notesMasters/notesMaster1.xml" Id="Rd426802e4fb446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ad7e543c4446e1" /><Relationship Type="http://schemas.openxmlformats.org/officeDocument/2006/relationships/notesMaster" Target="/ppt/notesMasters/notesMaster1.xml" Id="R41c631bdbb794f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d7f876ee994299" /><Relationship Type="http://schemas.openxmlformats.org/officeDocument/2006/relationships/notesMaster" Target="/ppt/notesMasters/notesMaster1.xml" Id="R571222c1430948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3d6d087d94f4d02" /><Relationship Type="http://schemas.openxmlformats.org/officeDocument/2006/relationships/notesMaster" Target="/ppt/notesMasters/notesMaster1.xml" Id="R7f13a4d1ba4f4e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4f577a1bc84b81" /><Relationship Type="http://schemas.openxmlformats.org/officeDocument/2006/relationships/notesMaster" Target="/ppt/notesMasters/notesMaster1.xml" Id="R0320fa3c04af43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df2c2d3dcc4243" /><Relationship Type="http://schemas.openxmlformats.org/officeDocument/2006/relationships/notesMaster" Target="/ppt/notesMasters/notesMaster1.xml" Id="R8f5ec50915f84b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41f6ade916483d" /><Relationship Type="http://schemas.openxmlformats.org/officeDocument/2006/relationships/notesMaster" Target="/ppt/notesMasters/notesMaster1.xml" Id="R66895c8067bb42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distinction between AI presence and AI role. The project asks how work is divided, not simply whether a job is exposed.</a:t>
            </a:r>
          </a:p>
          <a:p xmlns:a="http://schemas.openxmlformats.org/drawingml/2006/main">
            <a:r>
              <a:t/>
            </a:r>
          </a:p>
          <a:p xmlns:a="http://schemas.openxmlformats.org/drawingml/2006/main">
            <a:r>
              <a:t>[Sources]</a:t>
            </a:r>
          </a:p>
          <a:p xmlns:a="http://schemas.openxmlformats.org/drawingml/2006/main">
            <a:r>
              <a:t>- AI_at_Work_Four_Question_Research_Story.docx (internal project narrative)</a:t>
            </a:r>
          </a:p>
          <a:p xmlns:a="http://schemas.openxmlformats.org/drawingml/2006/main">
            <a:r>
              <a:t>- figures/AI_at_Work_Unified_Dataset_Documentation.docx (internal metric definitions)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sequence to frame the dashboard: locate AI, identify its role, inspect variation across tasks, then place the pattern in occupational context.</a:t>
            </a:r>
          </a:p>
          <a:p xmlns:a="http://schemas.openxmlformats.org/drawingml/2006/main">
            <a:r>
              <a:t/>
            </a:r>
          </a:p>
          <a:p xmlns:a="http://schemas.openxmlformats.org/drawingml/2006/main">
            <a:r>
              <a:t>[Sources]</a:t>
            </a:r>
          </a:p>
          <a:p xmlns:a="http://schemas.openxmlformats.org/drawingml/2006/main">
            <a:r>
              <a:t>- AI_at_Work_Four_Question_Research_Story.docx (internal research-question 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exposure answers how much AI is observed, while the five interaction modes classify what AI is doing. Valid role observations require complete interactions, positive exposure, and the quality filter.</a:t>
            </a:r>
          </a:p>
          <a:p xmlns:a="http://schemas.openxmlformats.org/drawingml/2006/main">
            <a:r>
              <a:t/>
            </a:r>
          </a:p>
          <a:p xmlns:a="http://schemas.openxmlformats.org/drawingml/2006/main">
            <a:r>
              <a:t>[Sources]</a:t>
            </a:r>
          </a:p>
          <a:p xmlns:a="http://schemas.openxmlformats.org/drawingml/2006/main">
            <a:r>
              <a:t>- figures/AI_at_Work_Unified_Dataset_Documentation.docx (dataset grain and metric definitions)</a:t>
            </a:r>
          </a:p>
          <a:p xmlns:a="http://schemas.openxmlformats.org/drawingml/2006/main">
            <a:r>
              <a:t>- analysis_dataset.csv (3,963 rows; 731 distinct occupations)</a:t>
            </a:r>
          </a:p>
          <a:p xmlns:a="http://schemas.openxmlformats.org/drawingml/2006/main">
            <a:r>
              <a:t>- figures/20260812-005545.jpeg (team-provided Tableau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concentration, then point to the treemap: AI enters the workplace through specific occupations and tasks rather than diffusing evenly across all work.</a:t>
            </a:r>
          </a:p>
          <a:p xmlns:a="http://schemas.openxmlformats.org/drawingml/2006/main">
            <a:r>
              <a:t/>
            </a:r>
          </a:p>
          <a:p xmlns:a="http://schemas.openxmlformats.org/drawingml/2006/main">
            <a:r>
              <a:t>[Sources]</a:t>
            </a:r>
          </a:p>
          <a:p xmlns:a="http://schemas.openxmlformats.org/drawingml/2006/main">
            <a:r>
              <a:t>- figures/20260812-013036.jpeg (team-provided Tableau export; 38.89% shown in the view)</a:t>
            </a:r>
          </a:p>
          <a:p xmlns:a="http://schemas.openxmlformats.org/drawingml/2006/main">
            <a:r>
              <a:t>- analysis_dataset.csv (occupation-family exposure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the distinction between the largest single mode and the overall grouped result: directive is the largest mode, but augmentation modes together produce the 57% majority.</a:t>
            </a:r>
          </a:p>
          <a:p xmlns:a="http://schemas.openxmlformats.org/drawingml/2006/main">
            <a:r>
              <a:t/>
            </a:r>
          </a:p>
          <a:p xmlns:a="http://schemas.openxmlformats.org/drawingml/2006/main">
            <a:r>
              <a:t>[Sources]</a:t>
            </a:r>
          </a:p>
          <a:p xmlns:a="http://schemas.openxmlformats.org/drawingml/2006/main">
            <a:r>
              <a:t>- figures/20260812-005601.jpeg (team-provided Tableau export)</a:t>
            </a:r>
          </a:p>
          <a:p xmlns:a="http://schemas.openxmlformats.org/drawingml/2006/main">
            <a:r>
              <a:t>- analysis_dataset.csv (56.98% augmentation; 43.02% automation; interaction-mode shares)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selected Architecture and Engineering view as an example. The core point is methodological: task-level marks reveal variation that a single family or occupation average can hide.</a:t>
            </a:r>
          </a:p>
          <a:p xmlns:a="http://schemas.openxmlformats.org/drawingml/2006/main">
            <a:r>
              <a:t/>
            </a:r>
          </a:p>
          <a:p xmlns:a="http://schemas.openxmlformats.org/drawingml/2006/main">
            <a:r>
              <a:t>[Sources]</a:t>
            </a:r>
          </a:p>
          <a:p xmlns:a="http://schemas.openxmlformats.org/drawingml/2006/main">
            <a:r>
              <a:t>- figures/20260812-005613.jpeg (team-provided Tableau export)</a:t>
            </a:r>
          </a:p>
          <a:p xmlns:a="http://schemas.openxmlformats.org/drawingml/2006/main">
            <a:r>
              <a:t>- AI_at_Work_Four_Question_Research_Story.docx (internal task-reconfiguration narrative)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these results as descriptive patterns. The strongest synthesis is that context matters, but no single occupational label determines whether AI is an executor or copilot.</a:t>
            </a:r>
          </a:p>
          <a:p xmlns:a="http://schemas.openxmlformats.org/drawingml/2006/main">
            <a:r>
              <a:t/>
            </a:r>
          </a:p>
          <a:p xmlns:a="http://schemas.openxmlformats.org/drawingml/2006/main">
            <a:r>
              <a:t>[Sources]</a:t>
            </a:r>
          </a:p>
          <a:p xmlns:a="http://schemas.openxmlformats.org/drawingml/2006/main">
            <a:r>
              <a:t>- figures/20260812-005637.jpeg (team-provided Tableau export)</a:t>
            </a:r>
          </a:p>
          <a:p xmlns:a="http://schemas.openxmlformats.org/drawingml/2006/main">
            <a:r>
              <a:t>- analysis_dataset.csv (Job Zone role-balance verification)</a:t>
            </a:r>
          </a:p>
          <a:p xmlns:a="http://schemas.openxmlformats.org/drawingml/2006/main">
            <a:r>
              <a:t>- AI_at_Work_Four_Question_Research_Story.docx (internal conclusion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connecting the analytical lessons to the substantive conclusion. The project became clearer once data grain, aggregation, semantic color, and chart purpose were treated as part of the argument.</a:t>
            </a:r>
          </a:p>
          <a:p xmlns:a="http://schemas.openxmlformats.org/drawingml/2006/main">
            <a:r>
              <a:t/>
            </a:r>
          </a:p>
          <a:p xmlns:a="http://schemas.openxmlformats.org/drawingml/2006/main">
            <a:r>
              <a:t>[Sources]</a:t>
            </a:r>
          </a:p>
          <a:p xmlns:a="http://schemas.openxmlformats.org/drawingml/2006/main">
            <a:r>
              <a:t>- figures/Final Presentation-fianl .pdf (internal structural reference for a lessons-learned close)</a:t>
            </a:r>
          </a:p>
          <a:p xmlns:a="http://schemas.openxmlformats.org/drawingml/2006/main">
            <a:r>
              <a:t>- figures/AI_at_Work_Unified_Dataset_Documentation.docx (aggregation and coverage rules)</a:t>
            </a:r>
          </a:p>
          <a:p xmlns:a="http://schemas.openxmlformats.org/drawingml/2006/main">
            <a:r>
              <a:t>- AI_at_Work_Four_Question_Research_Story.docx (internal closing narrative)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7437246d814b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467626837d438f" /><Relationship Type="http://schemas.openxmlformats.org/officeDocument/2006/relationships/slideLayout" Target="/ppt/slideLayouts/slideLayout1.xml" Id="Re59cded472d442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9cded472d442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125879931544228" /><Relationship Type="http://schemas.openxmlformats.org/officeDocument/2006/relationships/notesSlide" Target="/ppt/notesSlides/notesSlide1.xml" Id="Rdc7e271b15334d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99182ad00534ece" /><Relationship Type="http://schemas.openxmlformats.org/officeDocument/2006/relationships/notesSlide" Target="/ppt/notesSlides/notesSlide2.xml" Id="R827f6ce9a81b46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6c1559c567d48d2" /><Relationship Type="http://schemas.openxmlformats.org/officeDocument/2006/relationships/image" Target="/ppt/media/image.jpeg" Id="R227aae70a0b34397" /><Relationship Type="http://schemas.openxmlformats.org/officeDocument/2006/relationships/notesSlide" Target="/ppt/notesSlides/notesSlide3.xml" Id="Ra3fea6061e2d45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45a8495d9354065" /><Relationship Type="http://schemas.openxmlformats.org/officeDocument/2006/relationships/image" Target="/ppt/media/image2.jpeg" Id="R983f93095a9b42e2" /><Relationship Type="http://schemas.openxmlformats.org/officeDocument/2006/relationships/notesSlide" Target="/ppt/notesSlides/notesSlide4.xml" Id="Rea6347d9522748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31591f114e84cbc" /><Relationship Type="http://schemas.openxmlformats.org/officeDocument/2006/relationships/image" Target="/ppt/media/image3.jpeg" Id="R25d27e48b2ff4ed1" /><Relationship Type="http://schemas.openxmlformats.org/officeDocument/2006/relationships/notesSlide" Target="/ppt/notesSlides/notesSlide5.xml" Id="R0aa856be475247d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31c77a724444686" /><Relationship Type="http://schemas.openxmlformats.org/officeDocument/2006/relationships/image" Target="/ppt/media/image4.jpeg" Id="R8aebb281b7c941fc" /><Relationship Type="http://schemas.openxmlformats.org/officeDocument/2006/relationships/notesSlide" Target="/ppt/notesSlides/notesSlide6.xml" Id="Ra4cb8e56998b40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66eadadff324abb" /><Relationship Type="http://schemas.openxmlformats.org/officeDocument/2006/relationships/image" Target="/ppt/media/image5.jpeg" Id="R2817cce8f7484ff9" /><Relationship Type="http://schemas.openxmlformats.org/officeDocument/2006/relationships/notesSlide" Target="/ppt/notesSlides/notesSlide7.xml" Id="R61e543728b9348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2657b9ca8634a64" /><Relationship Type="http://schemas.openxmlformats.org/officeDocument/2006/relationships/notesSlide" Target="/ppt/notesSlides/notesSlide8.xml" Id="R65b0853f102d43c6" /></Relationships>
</file>

<file path=ppt/slides/slide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title-left-rule">
            <a:extLst xmlns:a="http://schemas.openxmlformats.org/drawingml/2006/main">
              <a:ext uri="{FF2B5EF4-FFF2-40B4-BE49-F238E27FC236}">
                <a16:creationId xmlns:a16="http://schemas.microsoft.com/office/drawing/2014/main" id="{BEABD700-89CD-45D7-9FD9-000980AE15F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8232D"/>
          </a:solidFill>
          <a:ln xmlns:a="http://schemas.openxmlformats.org/drawingml/2006/main" w="0">
            <a:noFill/>
            <a:prstDash val="solid"/>
          </a:ln>
        </p:spPr>
      </p:sp>
      <p:sp>
        <p:nvSpPr>
          <p:cNvPr id="2" name="title-eyebrow">
            <a:extLst xmlns:a="http://schemas.openxmlformats.org/drawingml/2006/main">
              <a:ext uri="{FF2B5EF4-FFF2-40B4-BE49-F238E27FC236}">
                <a16:creationId xmlns:a16="http://schemas.microsoft.com/office/drawing/2014/main" id="{5EFAA5C6-77CD-481D-B9CF-191510EEAEB5}"/>
              </a:ext>
            </a:extLst>
          </p:cNvPr>
          <p:cNvSpPr>
            <a:spLocks xmlns:a="http://schemas.openxmlformats.org/drawingml/2006/main" noGrp="1"/>
          </p:cNvSpPr>
          <p:nvPr/>
        </p:nvSpPr>
        <p:spPr>
          <a:xfrm xmlns:a="http://schemas.openxmlformats.org/drawingml/2006/main">
            <a:off x="723900" y="6667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E4575B"/>
                </a:solidFill>
                <a:latin typeface="Aptos"/>
                <a:ea typeface="Aptos"/>
                <a:cs typeface="Aptos"/>
              </a:defRPr>
            </a:pPr>
            <a:r>
              <a:rPr sz="1350" b="1">
                <a:solidFill>
                  <a:srgbClr val="E4575B"/>
                </a:solidFill>
                <a:latin typeface="Aptos"/>
                <a:ea typeface="Aptos"/>
                <a:cs typeface="Aptos"/>
              </a:rPr>
              <a:t>TABLEAU FINAL PROJECT</a:t>
            </a:r>
          </a:p>
        </p:txBody>
      </p:sp>
      <p:sp>
        <p:nvSpPr>
          <p:cNvPr id="3" name="title-mark">
            <a:extLst xmlns:a="http://schemas.openxmlformats.org/drawingml/2006/main">
              <a:ext uri="{FF2B5EF4-FFF2-40B4-BE49-F238E27FC236}">
                <a16:creationId xmlns:a16="http://schemas.microsoft.com/office/drawing/2014/main" id="{F66E8B21-2ED9-433E-AFA8-AD326951161D}"/>
              </a:ext>
            </a:extLst>
          </p:cNvPr>
          <p:cNvSpPr>
            <a:spLocks xmlns:a="http://schemas.openxmlformats.org/drawingml/2006/main" noGrp="1"/>
          </p:cNvSpPr>
          <p:nvPr/>
        </p:nvSpPr>
        <p:spPr>
          <a:xfrm xmlns:a="http://schemas.openxmlformats.org/drawingml/2006/main">
            <a:off x="723900" y="1352550"/>
            <a:ext cx="66675" cy="1790700"/>
          </a:xfrm>
          <a:prstGeom xmlns:a="http://schemas.openxmlformats.org/drawingml/2006/main" prst="rect">
            <a:avLst/>
          </a:prstGeom>
          <a:solidFill xmlns:a="http://schemas.openxmlformats.org/drawingml/2006/main">
            <a:srgbClr val="18232D"/>
          </a:solidFill>
          <a:ln xmlns:a="http://schemas.openxmlformats.org/drawingml/2006/main" w="0">
            <a:noFill/>
            <a:prstDash val="solid"/>
          </a:ln>
        </p:spPr>
      </p:sp>
      <p:sp>
        <p:nvSpPr>
          <p:cNvPr id="4" name="deck-title">
            <a:extLst xmlns:a="http://schemas.openxmlformats.org/drawingml/2006/main">
              <a:ext uri="{FF2B5EF4-FFF2-40B4-BE49-F238E27FC236}">
                <a16:creationId xmlns:a16="http://schemas.microsoft.com/office/drawing/2014/main" id="{41681D3D-E4AE-4D62-85C9-8683936B0C93}"/>
              </a:ext>
            </a:extLst>
          </p:cNvPr>
          <p:cNvSpPr>
            <a:spLocks xmlns:a="http://schemas.openxmlformats.org/drawingml/2006/main" noGrp="1"/>
          </p:cNvSpPr>
          <p:nvPr/>
        </p:nvSpPr>
        <p:spPr>
          <a:xfrm xmlns:a="http://schemas.openxmlformats.org/drawingml/2006/main">
            <a:off x="1028700" y="1295400"/>
            <a:ext cx="9334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18232D"/>
                </a:solidFill>
                <a:latin typeface="Aptos"/>
                <a:ea typeface="Aptos"/>
                <a:cs typeface="Aptos"/>
              </a:defRPr>
            </a:pPr>
            <a:r>
              <a:rPr sz="5850" b="1">
                <a:solidFill>
                  <a:srgbClr val="18232D"/>
                </a:solidFill>
                <a:latin typeface="Aptos"/>
                <a:ea typeface="Aptos"/>
                <a:cs typeface="Aptos"/>
              </a:rPr>
              <a:t>Who Does the Work?</a:t>
            </a:r>
          </a:p>
        </p:txBody>
      </p:sp>
      <p:sp>
        <p:nvSpPr>
          <p:cNvPr id="5" name="deck-subtitle">
            <a:extLst xmlns:a="http://schemas.openxmlformats.org/drawingml/2006/main">
              <a:ext uri="{FF2B5EF4-FFF2-40B4-BE49-F238E27FC236}">
                <a16:creationId xmlns:a16="http://schemas.microsoft.com/office/drawing/2014/main" id="{C253AC9D-4268-4E72-94B9-0D8546C41AC4}"/>
              </a:ext>
            </a:extLst>
          </p:cNvPr>
          <p:cNvSpPr>
            <a:spLocks xmlns:a="http://schemas.openxmlformats.org/drawingml/2006/main" noGrp="1"/>
          </p:cNvSpPr>
          <p:nvPr/>
        </p:nvSpPr>
        <p:spPr>
          <a:xfrm xmlns:a="http://schemas.openxmlformats.org/drawingml/2006/main">
            <a:off x="1047750" y="2419350"/>
            <a:ext cx="9239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a:solidFill>
                  <a:srgbClr val="273744"/>
                </a:solidFill>
                <a:latin typeface="Aptos"/>
                <a:ea typeface="Aptos"/>
                <a:cs typeface="Aptos"/>
              </a:defRPr>
            </a:pPr>
            <a:r>
              <a:rPr sz="2550">
                <a:solidFill>
                  <a:srgbClr val="273744"/>
                </a:solidFill>
                <a:latin typeface="Aptos"/>
                <a:ea typeface="Aptos"/>
                <a:cs typeface="Aptos"/>
              </a:rPr>
              <a:t>How generative AI is reshaping the division of labor</a:t>
            </a:r>
          </a:p>
          <a:p xmlns:a="http://schemas.openxmlformats.org/drawingml/2006/main">
            <a:pPr algn="l">
              <a:defRPr sz="2550">
                <a:solidFill>
                  <a:srgbClr val="273744"/>
                </a:solidFill>
                <a:latin typeface="Aptos"/>
                <a:ea typeface="Aptos"/>
                <a:cs typeface="Aptos"/>
              </a:defRPr>
            </a:pPr>
            <a:r>
              <a:rPr sz="2550">
                <a:solidFill>
                  <a:srgbClr val="273744"/>
                </a:solidFill>
                <a:latin typeface="Aptos"/>
                <a:ea typeface="Aptos"/>
                <a:cs typeface="Aptos"/>
              </a:rPr>
              <a:t>between humans and machines</a:t>
            </a:r>
          </a:p>
        </p:txBody>
      </p:sp>
      <p:sp>
        <p:nvSpPr>
          <p:cNvPr id="6" name="central-question-label">
            <a:extLst xmlns:a="http://schemas.openxmlformats.org/drawingml/2006/main">
              <a:ext uri="{FF2B5EF4-FFF2-40B4-BE49-F238E27FC236}">
                <a16:creationId xmlns:a16="http://schemas.microsoft.com/office/drawing/2014/main" id="{C8573D16-FEA5-4EFA-93A6-04B3412F31BE}"/>
              </a:ext>
            </a:extLst>
          </p:cNvPr>
          <p:cNvSpPr>
            <a:spLocks xmlns:a="http://schemas.openxmlformats.org/drawingml/2006/main" noGrp="1"/>
          </p:cNvSpPr>
          <p:nvPr/>
        </p:nvSpPr>
        <p:spPr>
          <a:xfrm xmlns:a="http://schemas.openxmlformats.org/drawingml/2006/main">
            <a:off x="1047750" y="3867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65717A"/>
                </a:solidFill>
                <a:latin typeface="Aptos"/>
                <a:ea typeface="Aptos"/>
                <a:cs typeface="Aptos"/>
              </a:defRPr>
            </a:pPr>
            <a:r>
              <a:rPr sz="1350" b="1">
                <a:solidFill>
                  <a:srgbClr val="65717A"/>
                </a:solidFill>
                <a:latin typeface="Aptos"/>
                <a:ea typeface="Aptos"/>
                <a:cs typeface="Aptos"/>
              </a:rPr>
              <a:t>Central question</a:t>
            </a:r>
          </a:p>
        </p:txBody>
      </p:sp>
      <p:sp>
        <p:nvSpPr>
          <p:cNvPr id="7" name="central-question">
            <a:extLst xmlns:a="http://schemas.openxmlformats.org/drawingml/2006/main">
              <a:ext uri="{FF2B5EF4-FFF2-40B4-BE49-F238E27FC236}">
                <a16:creationId xmlns:a16="http://schemas.microsoft.com/office/drawing/2014/main" id="{9404C140-65B0-4B8C-8836-E0DA760F880E}"/>
              </a:ext>
            </a:extLst>
          </p:cNvPr>
          <p:cNvSpPr>
            <a:spLocks xmlns:a="http://schemas.openxmlformats.org/drawingml/2006/main" noGrp="1"/>
          </p:cNvSpPr>
          <p:nvPr/>
        </p:nvSpPr>
        <p:spPr>
          <a:xfrm xmlns:a="http://schemas.openxmlformats.org/drawingml/2006/main">
            <a:off x="1047750" y="4191000"/>
            <a:ext cx="8858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8232D"/>
                </a:solidFill>
                <a:latin typeface="Aptos"/>
                <a:ea typeface="Aptos"/>
                <a:cs typeface="Aptos"/>
              </a:defRPr>
            </a:pPr>
            <a:r>
              <a:rPr sz="2025" b="1">
                <a:solidFill>
                  <a:srgbClr val="18232D"/>
                </a:solidFill>
                <a:latin typeface="Aptos"/>
                <a:ea typeface="Aptos"/>
                <a:cs typeface="Aptos"/>
              </a:rPr>
              <a:t>How is generative AI reorganizing the division of work between people and machines?</a:t>
            </a:r>
          </a:p>
        </p:txBody>
      </p:sp>
      <p:sp>
        <p:nvSpPr>
          <p:cNvPr id="8" name="title-date">
            <a:extLst xmlns:a="http://schemas.openxmlformats.org/drawingml/2006/main">
              <a:ext uri="{FF2B5EF4-FFF2-40B4-BE49-F238E27FC236}">
                <a16:creationId xmlns:a16="http://schemas.microsoft.com/office/drawing/2014/main" id="{A0D40695-1133-49B5-954E-93D8F2A297F3}"/>
              </a:ext>
            </a:extLst>
          </p:cNvPr>
          <p:cNvSpPr>
            <a:spLocks xmlns:a="http://schemas.openxmlformats.org/drawingml/2006/main" noGrp="1"/>
          </p:cNvSpPr>
          <p:nvPr/>
        </p:nvSpPr>
        <p:spPr>
          <a:xfrm xmlns:a="http://schemas.openxmlformats.org/drawingml/2006/main">
            <a:off x="723900" y="53149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65717A"/>
                </a:solidFill>
                <a:latin typeface="Aptos"/>
                <a:ea typeface="Aptos"/>
                <a:cs typeface="Aptos"/>
              </a:defRPr>
            </a:pPr>
            <a:r>
              <a:rPr sz="1200" b="1">
                <a:solidFill>
                  <a:srgbClr val="65717A"/>
                </a:solidFill>
                <a:latin typeface="Aptos"/>
                <a:ea typeface="Aptos"/>
                <a:cs typeface="Aptos"/>
              </a:rPr>
              <a:t>AUGUST 2026</a:t>
            </a:r>
          </a:p>
        </p:txBody>
      </p:sp>
      <p:sp>
        <p:nvSpPr>
          <p:cNvPr id="9" name="executor-band">
            <a:extLst xmlns:a="http://schemas.openxmlformats.org/drawingml/2006/main">
              <a:ext uri="{FF2B5EF4-FFF2-40B4-BE49-F238E27FC236}">
                <a16:creationId xmlns:a16="http://schemas.microsoft.com/office/drawing/2014/main" id="{1ED1BF7C-CD81-4583-A05A-921A0DF0824B}"/>
              </a:ext>
            </a:extLst>
          </p:cNvPr>
          <p:cNvSpPr>
            <a:spLocks xmlns:a="http://schemas.openxmlformats.org/drawingml/2006/main" noGrp="1"/>
          </p:cNvSpPr>
          <p:nvPr/>
        </p:nvSpPr>
        <p:spPr>
          <a:xfrm xmlns:a="http://schemas.openxmlformats.org/drawingml/2006/main">
            <a:off x="0" y="5810250"/>
            <a:ext cx="4953000" cy="1047750"/>
          </a:xfrm>
          <a:prstGeom xmlns:a="http://schemas.openxmlformats.org/drawingml/2006/main" prst="rect">
            <a:avLst/>
          </a:prstGeom>
          <a:solidFill xmlns:a="http://schemas.openxmlformats.org/drawingml/2006/main">
            <a:srgbClr val="77B7B2"/>
          </a:solidFill>
          <a:ln xmlns:a="http://schemas.openxmlformats.org/drawingml/2006/main" w="0">
            <a:noFill/>
            <a:prstDash val="solid"/>
          </a:ln>
        </p:spPr>
      </p:sp>
      <p:sp>
        <p:nvSpPr>
          <p:cNvPr id="10" name="copilot-band">
            <a:extLst xmlns:a="http://schemas.openxmlformats.org/drawingml/2006/main">
              <a:ext uri="{FF2B5EF4-FFF2-40B4-BE49-F238E27FC236}">
                <a16:creationId xmlns:a16="http://schemas.microsoft.com/office/drawing/2014/main" id="{6FBCBE95-F536-4EAD-8255-159063347630}"/>
              </a:ext>
            </a:extLst>
          </p:cNvPr>
          <p:cNvSpPr>
            <a:spLocks xmlns:a="http://schemas.openxmlformats.org/drawingml/2006/main" noGrp="1"/>
          </p:cNvSpPr>
          <p:nvPr/>
        </p:nvSpPr>
        <p:spPr>
          <a:xfrm xmlns:a="http://schemas.openxmlformats.org/drawingml/2006/main">
            <a:off x="4953000" y="5810250"/>
            <a:ext cx="7239000" cy="1047750"/>
          </a:xfrm>
          <a:prstGeom xmlns:a="http://schemas.openxmlformats.org/drawingml/2006/main" prst="rect">
            <a:avLst/>
          </a:prstGeom>
          <a:solidFill xmlns:a="http://schemas.openxmlformats.org/drawingml/2006/main">
            <a:srgbClr val="E4575B"/>
          </a:solidFill>
          <a:ln xmlns:a="http://schemas.openxmlformats.org/drawingml/2006/main" w="0">
            <a:noFill/>
            <a:prstDash val="solid"/>
          </a:ln>
        </p:spPr>
      </p:sp>
      <p:sp>
        <p:nvSpPr>
          <p:cNvPr id="11" name="executor-label">
            <a:extLst xmlns:a="http://schemas.openxmlformats.org/drawingml/2006/main">
              <a:ext uri="{FF2B5EF4-FFF2-40B4-BE49-F238E27FC236}">
                <a16:creationId xmlns:a16="http://schemas.microsoft.com/office/drawing/2014/main" id="{BB53E375-1167-4C62-BA53-6D5201372713}"/>
              </a:ext>
            </a:extLst>
          </p:cNvPr>
          <p:cNvSpPr>
            <a:spLocks xmlns:a="http://schemas.openxmlformats.org/drawingml/2006/main" noGrp="1"/>
          </p:cNvSpPr>
          <p:nvPr/>
        </p:nvSpPr>
        <p:spPr>
          <a:xfrm xmlns:a="http://schemas.openxmlformats.org/drawingml/2006/main">
            <a:off x="723900" y="615315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AI AS EXECUTOR</a:t>
            </a:r>
          </a:p>
        </p:txBody>
      </p:sp>
      <p:sp>
        <p:nvSpPr>
          <p:cNvPr id="12" name="copilot-label">
            <a:extLst xmlns:a="http://schemas.openxmlformats.org/drawingml/2006/main">
              <a:ext uri="{FF2B5EF4-FFF2-40B4-BE49-F238E27FC236}">
                <a16:creationId xmlns:a16="http://schemas.microsoft.com/office/drawing/2014/main" id="{42E9C08B-E519-4BB2-A313-B99C6B2FFBD2}"/>
              </a:ext>
            </a:extLst>
          </p:cNvPr>
          <p:cNvSpPr>
            <a:spLocks xmlns:a="http://schemas.openxmlformats.org/drawingml/2006/main" noGrp="1"/>
          </p:cNvSpPr>
          <p:nvPr/>
        </p:nvSpPr>
        <p:spPr>
          <a:xfrm xmlns:a="http://schemas.openxmlformats.org/drawingml/2006/main">
            <a:off x="5391150" y="61531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AI AS COPILOT</a:t>
            </a:r>
          </a:p>
        </p:txBody>
      </p:sp>
    </p:spTree>
    <p:extLst>
      <p:ext uri="{BB962C8B-B14F-4D97-AF65-F5344CB8AC3E}">
        <p14:creationId xmlns:p14="http://schemas.microsoft.com/office/powerpoint/2010/main" val="127252192"/>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9" name="section-2">
            <a:extLst xmlns:a="http://schemas.openxmlformats.org/drawingml/2006/main">
              <a:ext uri="{FF2B5EF4-FFF2-40B4-BE49-F238E27FC236}">
                <a16:creationId xmlns:a16="http://schemas.microsoft.com/office/drawing/2014/main" id="{8B6841A7-8D50-43CA-81A5-B3635EE90ACE}"/>
              </a:ext>
            </a:extLst>
          </p:cNvPr>
          <p:cNvSpPr>
            <a:spLocks xmlns:a="http://schemas.openxmlformats.org/drawingml/2006/main" noGrp="1"/>
          </p:cNvSpPr>
          <p:nvPr/>
        </p:nvSpPr>
        <p:spPr>
          <a:xfrm xmlns:a="http://schemas.openxmlformats.org/drawingml/2006/main">
            <a:off x="647700" y="3238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E4575B"/>
                </a:solidFill>
                <a:latin typeface="Aptos"/>
                <a:ea typeface="Aptos"/>
                <a:cs typeface="Aptos"/>
              </a:defRPr>
            </a:pPr>
            <a:r>
              <a:rPr sz="1200" b="1">
                <a:solidFill>
                  <a:srgbClr val="E4575B"/>
                </a:solidFill>
                <a:latin typeface="Aptos"/>
                <a:ea typeface="Aptos"/>
                <a:cs typeface="Aptos"/>
              </a:rPr>
              <a:t>THE PROBLEM</a:t>
            </a:r>
          </a:p>
        </p:txBody>
      </p:sp>
      <p:sp>
        <p:nvSpPr>
          <p:cNvPr id="2" name="page-2">
            <a:extLst xmlns:a="http://schemas.openxmlformats.org/drawingml/2006/main">
              <a:ext uri="{FF2B5EF4-FFF2-40B4-BE49-F238E27FC236}">
                <a16:creationId xmlns:a16="http://schemas.microsoft.com/office/drawing/2014/main" id="{6FE8650E-8302-4705-BB6E-A6BA7B1753A6}"/>
              </a:ext>
            </a:extLst>
          </p:cNvPr>
          <p:cNvSpPr>
            <a:spLocks xmlns:a="http://schemas.openxmlformats.org/drawingml/2006/main" noGrp="1"/>
          </p:cNvSpPr>
          <p:nvPr/>
        </p:nvSpPr>
        <p:spPr>
          <a:xfrm xmlns:a="http://schemas.openxmlformats.org/drawingml/2006/main">
            <a:off x="11049000" y="3238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5717A"/>
                </a:solidFill>
                <a:latin typeface="Aptos"/>
                <a:ea typeface="Aptos"/>
                <a:cs typeface="Aptos"/>
              </a:defRPr>
            </a:pPr>
            <a:r>
              <a:rPr sz="1200" b="1">
                <a:solidFill>
                  <a:srgbClr val="65717A"/>
                </a:solidFill>
                <a:latin typeface="Aptos"/>
                <a:ea typeface="Aptos"/>
                <a:cs typeface="Aptos"/>
              </a:rPr>
              <a:t>02</a:t>
            </a:r>
          </a:p>
        </p:txBody>
      </p:sp>
      <p:sp>
        <p:nvSpPr>
          <p:cNvPr id="3" name="title-2">
            <a:extLst xmlns:a="http://schemas.openxmlformats.org/drawingml/2006/main">
              <a:ext uri="{FF2B5EF4-FFF2-40B4-BE49-F238E27FC236}">
                <a16:creationId xmlns:a16="http://schemas.microsoft.com/office/drawing/2014/main" id="{E4781029-39E0-4050-A389-9282FF984008}"/>
              </a:ext>
            </a:extLst>
          </p:cNvPr>
          <p:cNvSpPr>
            <a:spLocks xmlns:a="http://schemas.openxmlformats.org/drawingml/2006/main" noGrp="1"/>
          </p:cNvSpPr>
          <p:nvPr/>
        </p:nvSpPr>
        <p:spPr>
          <a:xfrm xmlns:a="http://schemas.openxmlformats.org/drawingml/2006/main">
            <a:off x="647700" y="666750"/>
            <a:ext cx="108966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8232D"/>
                </a:solidFill>
                <a:latin typeface="Aptos"/>
                <a:ea typeface="Aptos"/>
                <a:cs typeface="Aptos"/>
              </a:defRPr>
            </a:pPr>
            <a:r>
              <a:rPr sz="3600" b="1">
                <a:solidFill>
                  <a:srgbClr val="18232D"/>
                </a:solidFill>
                <a:latin typeface="Aptos"/>
                <a:ea typeface="Aptos"/>
                <a:cs typeface="Aptos"/>
              </a:rPr>
              <a:t>AI exposure does not tell us whether it replaces</a:t>
            </a:r>
          </a:p>
          <a:p xmlns:a="http://schemas.openxmlformats.org/drawingml/2006/main">
            <a:pPr algn="l">
              <a:defRPr sz="3600" b="1">
                <a:solidFill>
                  <a:srgbClr val="18232D"/>
                </a:solidFill>
                <a:latin typeface="Aptos"/>
                <a:ea typeface="Aptos"/>
                <a:cs typeface="Aptos"/>
              </a:defRPr>
            </a:pPr>
            <a:r>
              <a:rPr sz="3600" b="1">
                <a:solidFill>
                  <a:srgbClr val="18232D"/>
                </a:solidFill>
                <a:latin typeface="Aptos"/>
                <a:ea typeface="Aptos"/>
                <a:cs typeface="Aptos"/>
              </a:rPr>
              <a:t>or supports work.</a:t>
            </a:r>
          </a:p>
        </p:txBody>
      </p:sp>
      <p:sp>
        <p:nvSpPr>
          <p:cNvPr id="4" name="exposure-label">
            <a:extLst xmlns:a="http://schemas.openxmlformats.org/drawingml/2006/main">
              <a:ext uri="{FF2B5EF4-FFF2-40B4-BE49-F238E27FC236}">
                <a16:creationId xmlns:a16="http://schemas.microsoft.com/office/drawing/2014/main" id="{BD71955F-21EC-48FC-8E12-A880C7A4FBFA}"/>
              </a:ext>
            </a:extLst>
          </p:cNvPr>
          <p:cNvSpPr>
            <a:spLocks xmlns:a="http://schemas.openxmlformats.org/drawingml/2006/main" noGrp="1"/>
          </p:cNvSpPr>
          <p:nvPr/>
        </p:nvSpPr>
        <p:spPr>
          <a:xfrm xmlns:a="http://schemas.openxmlformats.org/drawingml/2006/main">
            <a:off x="685800" y="2247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397F7A"/>
                </a:solidFill>
                <a:latin typeface="Aptos"/>
                <a:ea typeface="Aptos"/>
                <a:cs typeface="Aptos"/>
              </a:defRPr>
            </a:pPr>
            <a:r>
              <a:rPr sz="2400" b="1">
                <a:solidFill>
                  <a:srgbClr val="397F7A"/>
                </a:solidFill>
                <a:latin typeface="Aptos"/>
                <a:ea typeface="Aptos"/>
                <a:cs typeface="Aptos"/>
              </a:rPr>
              <a:t>Exposure</a:t>
            </a:r>
          </a:p>
        </p:txBody>
      </p:sp>
      <p:sp>
        <p:nvSpPr>
          <p:cNvPr id="5" name="exposure-definition">
            <a:extLst xmlns:a="http://schemas.openxmlformats.org/drawingml/2006/main">
              <a:ext uri="{FF2B5EF4-FFF2-40B4-BE49-F238E27FC236}">
                <a16:creationId xmlns:a16="http://schemas.microsoft.com/office/drawing/2014/main" id="{2F2857AD-C1E0-4BA3-BC00-8F38F60502AA}"/>
              </a:ext>
            </a:extLst>
          </p:cNvPr>
          <p:cNvSpPr>
            <a:spLocks xmlns:a="http://schemas.openxmlformats.org/drawingml/2006/main" noGrp="1"/>
          </p:cNvSpPr>
          <p:nvPr/>
        </p:nvSpPr>
        <p:spPr>
          <a:xfrm xmlns:a="http://schemas.openxmlformats.org/drawingml/2006/main">
            <a:off x="685800" y="26098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a:solidFill>
                  <a:srgbClr val="18232D"/>
                </a:solidFill>
                <a:latin typeface="Aptos"/>
                <a:ea typeface="Aptos"/>
                <a:cs typeface="Aptos"/>
              </a:defRPr>
            </a:pPr>
            <a:r>
              <a:rPr sz="1725">
                <a:solidFill>
                  <a:srgbClr val="18232D"/>
                </a:solidFill>
                <a:latin typeface="Aptos"/>
                <a:ea typeface="Aptos"/>
                <a:cs typeface="Aptos"/>
              </a:rPr>
              <a:t>How much AI is used</a:t>
            </a:r>
          </a:p>
        </p:txBody>
      </p:sp>
      <p:sp>
        <p:nvSpPr>
          <p:cNvPr id="6" name="role-label">
            <a:extLst xmlns:a="http://schemas.openxmlformats.org/drawingml/2006/main">
              <a:ext uri="{FF2B5EF4-FFF2-40B4-BE49-F238E27FC236}">
                <a16:creationId xmlns:a16="http://schemas.microsoft.com/office/drawing/2014/main" id="{264B26B3-5790-450C-9E5D-3E7C26490D98}"/>
              </a:ext>
            </a:extLst>
          </p:cNvPr>
          <p:cNvSpPr>
            <a:spLocks xmlns:a="http://schemas.openxmlformats.org/drawingml/2006/main" noGrp="1"/>
          </p:cNvSpPr>
          <p:nvPr/>
        </p:nvSpPr>
        <p:spPr>
          <a:xfrm xmlns:a="http://schemas.openxmlformats.org/drawingml/2006/main">
            <a:off x="685800" y="3295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B9383F"/>
                </a:solidFill>
                <a:latin typeface="Aptos"/>
                <a:ea typeface="Aptos"/>
                <a:cs typeface="Aptos"/>
              </a:defRPr>
            </a:pPr>
            <a:r>
              <a:rPr sz="2400" b="1">
                <a:solidFill>
                  <a:srgbClr val="B9383F"/>
                </a:solidFill>
                <a:latin typeface="Aptos"/>
                <a:ea typeface="Aptos"/>
                <a:cs typeface="Aptos"/>
              </a:rPr>
              <a:t>Role</a:t>
            </a:r>
          </a:p>
        </p:txBody>
      </p:sp>
      <p:sp>
        <p:nvSpPr>
          <p:cNvPr id="7" name="role-definition">
            <a:extLst xmlns:a="http://schemas.openxmlformats.org/drawingml/2006/main">
              <a:ext uri="{FF2B5EF4-FFF2-40B4-BE49-F238E27FC236}">
                <a16:creationId xmlns:a16="http://schemas.microsoft.com/office/drawing/2014/main" id="{5D95C195-167D-436B-A6A7-314CB2B16832}"/>
              </a:ext>
            </a:extLst>
          </p:cNvPr>
          <p:cNvSpPr>
            <a:spLocks xmlns:a="http://schemas.openxmlformats.org/drawingml/2006/main" noGrp="1"/>
          </p:cNvSpPr>
          <p:nvPr/>
        </p:nvSpPr>
        <p:spPr>
          <a:xfrm xmlns:a="http://schemas.openxmlformats.org/drawingml/2006/main">
            <a:off x="685800" y="365760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a:solidFill>
                  <a:srgbClr val="18232D"/>
                </a:solidFill>
                <a:latin typeface="Aptos"/>
                <a:ea typeface="Aptos"/>
                <a:cs typeface="Aptos"/>
              </a:defRPr>
            </a:pPr>
            <a:r>
              <a:rPr sz="1725">
                <a:solidFill>
                  <a:srgbClr val="18232D"/>
                </a:solidFill>
                <a:latin typeface="Aptos"/>
                <a:ea typeface="Aptos"/>
                <a:cs typeface="Aptos"/>
              </a:rPr>
              <a:t>What AI does when it is used</a:t>
            </a:r>
          </a:p>
        </p:txBody>
      </p:sp>
      <p:sp>
        <p:nvSpPr>
          <p:cNvPr id="8" name="problem-divider">
            <a:extLst xmlns:a="http://schemas.openxmlformats.org/drawingml/2006/main">
              <a:ext uri="{FF2B5EF4-FFF2-40B4-BE49-F238E27FC236}">
                <a16:creationId xmlns:a16="http://schemas.microsoft.com/office/drawing/2014/main" id="{A78DB03D-0078-4F36-BC64-2B81D7725107}"/>
              </a:ext>
            </a:extLst>
          </p:cNvPr>
          <p:cNvSpPr>
            <a:spLocks xmlns:a="http://schemas.openxmlformats.org/drawingml/2006/main" noGrp="1"/>
          </p:cNvSpPr>
          <p:nvPr/>
        </p:nvSpPr>
        <p:spPr>
          <a:xfrm xmlns:a="http://schemas.openxmlformats.org/drawingml/2006/main">
            <a:off x="4629150" y="2152650"/>
            <a:ext cx="57150" cy="2000250"/>
          </a:xfrm>
          <a:prstGeom xmlns:a="http://schemas.openxmlformats.org/drawingml/2006/main" prst="rect">
            <a:avLst/>
          </a:prstGeom>
          <a:solidFill xmlns:a="http://schemas.openxmlformats.org/drawingml/2006/main">
            <a:srgbClr val="18232D"/>
          </a:solidFill>
          <a:ln xmlns:a="http://schemas.openxmlformats.org/drawingml/2006/main" w="0">
            <a:noFill/>
            <a:prstDash val="solid"/>
          </a:ln>
        </p:spPr>
      </p:sp>
      <p:sp>
        <p:nvSpPr>
          <p:cNvPr id="9" name="problem-question">
            <a:extLst xmlns:a="http://schemas.openxmlformats.org/drawingml/2006/main">
              <a:ext uri="{FF2B5EF4-FFF2-40B4-BE49-F238E27FC236}">
                <a16:creationId xmlns:a16="http://schemas.microsoft.com/office/drawing/2014/main" id="{A194527F-75A6-470D-AC2D-ACD06CFB7D4E}"/>
              </a:ext>
            </a:extLst>
          </p:cNvPr>
          <p:cNvSpPr>
            <a:spLocks xmlns:a="http://schemas.openxmlformats.org/drawingml/2006/main" noGrp="1"/>
          </p:cNvSpPr>
          <p:nvPr/>
        </p:nvSpPr>
        <p:spPr>
          <a:xfrm xmlns:a="http://schemas.openxmlformats.org/drawingml/2006/main">
            <a:off x="5048250" y="2143125"/>
            <a:ext cx="6191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232D"/>
                </a:solidFill>
                <a:latin typeface="Aptos"/>
                <a:ea typeface="Aptos"/>
                <a:cs typeface="Aptos"/>
              </a:defRPr>
            </a:pPr>
            <a:r>
              <a:rPr sz="2475" b="1">
                <a:solidFill>
                  <a:srgbClr val="18232D"/>
                </a:solidFill>
                <a:latin typeface="Aptos"/>
                <a:ea typeface="Aptos"/>
                <a:cs typeface="Aptos"/>
              </a:rPr>
              <a:t>The question is not only where AI appears.</a:t>
            </a:r>
          </a:p>
          <a:p xmlns:a="http://schemas.openxmlformats.org/drawingml/2006/main">
            <a:pPr algn="l">
              <a:defRPr sz="2475" b="1">
                <a:solidFill>
                  <a:srgbClr val="18232D"/>
                </a:solidFill>
                <a:latin typeface="Aptos"/>
                <a:ea typeface="Aptos"/>
                <a:cs typeface="Aptos"/>
              </a:defRPr>
            </a:pPr>
            <a:r>
              <a:rPr sz="2475" b="1">
                <a:solidFill>
                  <a:srgbClr val="18232D"/>
                </a:solidFill>
                <a:latin typeface="Aptos"/>
                <a:ea typeface="Aptos"/>
                <a:cs typeface="Aptos"/>
              </a:rPr>
              <a:t>It is whether AI executes the task, supports the worker, or does both inside the same occupation.</a:t>
            </a:r>
          </a:p>
        </p:txBody>
      </p:sp>
      <p:sp>
        <p:nvSpPr>
          <p:cNvPr id="10" name="research-sequence-line">
            <a:extLst xmlns:a="http://schemas.openxmlformats.org/drawingml/2006/main">
              <a:ext uri="{FF2B5EF4-FFF2-40B4-BE49-F238E27FC236}">
                <a16:creationId xmlns:a16="http://schemas.microsoft.com/office/drawing/2014/main" id="{EDB6151D-19AF-482D-99AC-BFDFE68B6E3C}"/>
              </a:ext>
            </a:extLst>
          </p:cNvPr>
          <p:cNvSpPr>
            <a:spLocks xmlns:a="http://schemas.openxmlformats.org/drawingml/2006/main" noGrp="1"/>
          </p:cNvSpPr>
          <p:nvPr/>
        </p:nvSpPr>
        <p:spPr>
          <a:xfrm xmlns:a="http://schemas.openxmlformats.org/drawingml/2006/main">
            <a:off x="1123950" y="5219700"/>
            <a:ext cx="9829800" cy="0"/>
          </a:xfrm>
          <a:prstGeom xmlns:a="http://schemas.openxmlformats.org/drawingml/2006/main" prst="line">
            <a:avLst/>
          </a:prstGeom>
          <a:noFill xmlns:a="http://schemas.openxmlformats.org/drawingml/2006/main"/>
          <a:ln xmlns:a="http://schemas.openxmlformats.org/drawingml/2006/main" w="28575">
            <a:solidFill>
              <a:srgbClr val="D8D6D0"/>
            </a:solidFill>
            <a:prstDash val="solid"/>
          </a:ln>
        </p:spPr>
      </p:sp>
      <p:sp>
        <p:nvSpPr>
          <p:cNvPr id="11" name="sequence-node-1">
            <a:extLst xmlns:a="http://schemas.openxmlformats.org/drawingml/2006/main">
              <a:ext uri="{FF2B5EF4-FFF2-40B4-BE49-F238E27FC236}">
                <a16:creationId xmlns:a16="http://schemas.microsoft.com/office/drawing/2014/main" id="{0B1201D1-58DF-4F14-956D-2727E5AB1E4E}"/>
              </a:ext>
            </a:extLst>
          </p:cNvPr>
          <p:cNvSpPr>
            <a:spLocks xmlns:a="http://schemas.openxmlformats.org/drawingml/2006/main" noGrp="1"/>
          </p:cNvSpPr>
          <p:nvPr/>
        </p:nvSpPr>
        <p:spPr>
          <a:xfrm xmlns:a="http://schemas.openxmlformats.org/drawingml/2006/main">
            <a:off x="876300" y="5010150"/>
            <a:ext cx="419100" cy="419100"/>
          </a:xfrm>
          <a:prstGeom xmlns:a="http://schemas.openxmlformats.org/drawingml/2006/main" prst="ellipse">
            <a:avLst/>
          </a:prstGeom>
          <a:solidFill xmlns:a="http://schemas.openxmlformats.org/drawingml/2006/main">
            <a:srgbClr val="77B7B2"/>
          </a:solidFill>
          <a:ln xmlns:a="http://schemas.openxmlformats.org/drawingml/2006/main" w="0">
            <a:noFill/>
            <a:prstDash val="solid"/>
          </a:ln>
        </p:spPr>
      </p:sp>
      <p:sp>
        <p:nvSpPr>
          <p:cNvPr id="12" name="sequence-number-1">
            <a:extLst xmlns:a="http://schemas.openxmlformats.org/drawingml/2006/main">
              <a:ext uri="{FF2B5EF4-FFF2-40B4-BE49-F238E27FC236}">
                <a16:creationId xmlns:a16="http://schemas.microsoft.com/office/drawing/2014/main" id="{53A962B7-33A8-4BA1-9142-9E9633ABC49D}"/>
              </a:ext>
            </a:extLst>
          </p:cNvPr>
          <p:cNvSpPr>
            <a:spLocks xmlns:a="http://schemas.openxmlformats.org/drawingml/2006/main" noGrp="1"/>
          </p:cNvSpPr>
          <p:nvPr/>
        </p:nvSpPr>
        <p:spPr>
          <a:xfrm xmlns:a="http://schemas.openxmlformats.org/drawingml/2006/main">
            <a:off x="876300" y="51054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01</a:t>
            </a:r>
          </a:p>
        </p:txBody>
      </p:sp>
      <p:sp>
        <p:nvSpPr>
          <p:cNvPr id="13" name="sequence-heading-1">
            <a:extLst xmlns:a="http://schemas.openxmlformats.org/drawingml/2006/main">
              <a:ext uri="{FF2B5EF4-FFF2-40B4-BE49-F238E27FC236}">
                <a16:creationId xmlns:a16="http://schemas.microsoft.com/office/drawing/2014/main" id="{191E8600-DE63-4EC3-A049-362C2058FCE9}"/>
              </a:ext>
            </a:extLst>
          </p:cNvPr>
          <p:cNvSpPr>
            <a:spLocks xmlns:a="http://schemas.openxmlformats.org/drawingml/2006/main" noGrp="1"/>
          </p:cNvSpPr>
          <p:nvPr/>
        </p:nvSpPr>
        <p:spPr>
          <a:xfrm xmlns:a="http://schemas.openxmlformats.org/drawingml/2006/main">
            <a:off x="819150" y="5562600"/>
            <a:ext cx="1885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8232D"/>
                </a:solidFill>
                <a:latin typeface="Aptos"/>
                <a:ea typeface="Aptos"/>
                <a:cs typeface="Aptos"/>
              </a:defRPr>
            </a:pPr>
            <a:r>
              <a:rPr sz="1650" b="1">
                <a:solidFill>
                  <a:srgbClr val="18232D"/>
                </a:solidFill>
                <a:latin typeface="Aptos"/>
                <a:ea typeface="Aptos"/>
                <a:cs typeface="Aptos"/>
              </a:rPr>
              <a:t>WHERE</a:t>
            </a:r>
          </a:p>
        </p:txBody>
      </p:sp>
      <p:sp>
        <p:nvSpPr>
          <p:cNvPr id="14" name="sequence-body-1">
            <a:extLst xmlns:a="http://schemas.openxmlformats.org/drawingml/2006/main">
              <a:ext uri="{FF2B5EF4-FFF2-40B4-BE49-F238E27FC236}">
                <a16:creationId xmlns:a16="http://schemas.microsoft.com/office/drawing/2014/main" id="{1FFFB262-ADE9-4796-B03D-E71EE2869601}"/>
              </a:ext>
            </a:extLst>
          </p:cNvPr>
          <p:cNvSpPr>
            <a:spLocks xmlns:a="http://schemas.openxmlformats.org/drawingml/2006/main" noGrp="1"/>
          </p:cNvSpPr>
          <p:nvPr/>
        </p:nvSpPr>
        <p:spPr>
          <a:xfrm xmlns:a="http://schemas.openxmlformats.org/drawingml/2006/main">
            <a:off x="819150" y="584835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65717A"/>
                </a:solidFill>
                <a:latin typeface="Aptos"/>
                <a:ea typeface="Aptos"/>
                <a:cs typeface="Aptos"/>
              </a:defRPr>
            </a:pPr>
            <a:r>
              <a:rPr sz="1650">
                <a:solidFill>
                  <a:srgbClr val="65717A"/>
                </a:solidFill>
                <a:latin typeface="Aptos"/>
                <a:ea typeface="Aptos"/>
                <a:cs typeface="Aptos"/>
              </a:rPr>
              <a:t>Locate AI</a:t>
            </a:r>
          </a:p>
        </p:txBody>
      </p:sp>
      <p:sp>
        <p:nvSpPr>
          <p:cNvPr id="15" name="sequence-node-2">
            <a:extLst xmlns:a="http://schemas.openxmlformats.org/drawingml/2006/main">
              <a:ext uri="{FF2B5EF4-FFF2-40B4-BE49-F238E27FC236}">
                <a16:creationId xmlns:a16="http://schemas.microsoft.com/office/drawing/2014/main" id="{54DF4444-23F3-4DBC-86F5-3C98801C0F58}"/>
              </a:ext>
            </a:extLst>
          </p:cNvPr>
          <p:cNvSpPr>
            <a:spLocks xmlns:a="http://schemas.openxmlformats.org/drawingml/2006/main" noGrp="1"/>
          </p:cNvSpPr>
          <p:nvPr/>
        </p:nvSpPr>
        <p:spPr>
          <a:xfrm xmlns:a="http://schemas.openxmlformats.org/drawingml/2006/main">
            <a:off x="3486150" y="5010150"/>
            <a:ext cx="419100" cy="419100"/>
          </a:xfrm>
          <a:prstGeom xmlns:a="http://schemas.openxmlformats.org/drawingml/2006/main" prst="ellipse">
            <a:avLst/>
          </a:prstGeom>
          <a:solidFill xmlns:a="http://schemas.openxmlformats.org/drawingml/2006/main">
            <a:srgbClr val="E4575B"/>
          </a:solidFill>
          <a:ln xmlns:a="http://schemas.openxmlformats.org/drawingml/2006/main" w="0">
            <a:noFill/>
            <a:prstDash val="solid"/>
          </a:ln>
        </p:spPr>
      </p:sp>
      <p:sp>
        <p:nvSpPr>
          <p:cNvPr id="16" name="sequence-number-2">
            <a:extLst xmlns:a="http://schemas.openxmlformats.org/drawingml/2006/main">
              <a:ext uri="{FF2B5EF4-FFF2-40B4-BE49-F238E27FC236}">
                <a16:creationId xmlns:a16="http://schemas.microsoft.com/office/drawing/2014/main" id="{68B4060F-482B-445E-A33A-4B56B789900A}"/>
              </a:ext>
            </a:extLst>
          </p:cNvPr>
          <p:cNvSpPr>
            <a:spLocks xmlns:a="http://schemas.openxmlformats.org/drawingml/2006/main" noGrp="1"/>
          </p:cNvSpPr>
          <p:nvPr/>
        </p:nvSpPr>
        <p:spPr>
          <a:xfrm xmlns:a="http://schemas.openxmlformats.org/drawingml/2006/main">
            <a:off x="3486150" y="51054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02</a:t>
            </a:r>
          </a:p>
        </p:txBody>
      </p:sp>
      <p:sp>
        <p:nvSpPr>
          <p:cNvPr id="17" name="sequence-heading-2">
            <a:extLst xmlns:a="http://schemas.openxmlformats.org/drawingml/2006/main">
              <a:ext uri="{FF2B5EF4-FFF2-40B4-BE49-F238E27FC236}">
                <a16:creationId xmlns:a16="http://schemas.microsoft.com/office/drawing/2014/main" id="{DDAE5F83-F4A8-4833-BA6A-6DD34380E20E}"/>
              </a:ext>
            </a:extLst>
          </p:cNvPr>
          <p:cNvSpPr>
            <a:spLocks xmlns:a="http://schemas.openxmlformats.org/drawingml/2006/main" noGrp="1"/>
          </p:cNvSpPr>
          <p:nvPr/>
        </p:nvSpPr>
        <p:spPr>
          <a:xfrm xmlns:a="http://schemas.openxmlformats.org/drawingml/2006/main">
            <a:off x="3429000" y="5562600"/>
            <a:ext cx="1885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8232D"/>
                </a:solidFill>
                <a:latin typeface="Aptos"/>
                <a:ea typeface="Aptos"/>
                <a:cs typeface="Aptos"/>
              </a:defRPr>
            </a:pPr>
            <a:r>
              <a:rPr sz="1650" b="1">
                <a:solidFill>
                  <a:srgbClr val="18232D"/>
                </a:solidFill>
                <a:latin typeface="Aptos"/>
                <a:ea typeface="Aptos"/>
                <a:cs typeface="Aptos"/>
              </a:rPr>
              <a:t>ROLE</a:t>
            </a:r>
          </a:p>
        </p:txBody>
      </p:sp>
      <p:sp>
        <p:nvSpPr>
          <p:cNvPr id="18" name="sequence-body-2">
            <a:extLst xmlns:a="http://schemas.openxmlformats.org/drawingml/2006/main">
              <a:ext uri="{FF2B5EF4-FFF2-40B4-BE49-F238E27FC236}">
                <a16:creationId xmlns:a16="http://schemas.microsoft.com/office/drawing/2014/main" id="{CF9533C4-90B5-41A8-B5A7-314569C1A306}"/>
              </a:ext>
            </a:extLst>
          </p:cNvPr>
          <p:cNvSpPr>
            <a:spLocks xmlns:a="http://schemas.openxmlformats.org/drawingml/2006/main" noGrp="1"/>
          </p:cNvSpPr>
          <p:nvPr/>
        </p:nvSpPr>
        <p:spPr>
          <a:xfrm xmlns:a="http://schemas.openxmlformats.org/drawingml/2006/main">
            <a:off x="3429000" y="584835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65717A"/>
                </a:solidFill>
                <a:latin typeface="Aptos"/>
                <a:ea typeface="Aptos"/>
                <a:cs typeface="Aptos"/>
              </a:defRPr>
            </a:pPr>
            <a:r>
              <a:rPr sz="1650">
                <a:solidFill>
                  <a:srgbClr val="65717A"/>
                </a:solidFill>
                <a:latin typeface="Aptos"/>
                <a:ea typeface="Aptos"/>
                <a:cs typeface="Aptos"/>
              </a:rPr>
              <a:t>Executor or copilot?</a:t>
            </a:r>
          </a:p>
        </p:txBody>
      </p:sp>
      <p:sp>
        <p:nvSpPr>
          <p:cNvPr id="19" name="sequence-node-3">
            <a:extLst xmlns:a="http://schemas.openxmlformats.org/drawingml/2006/main">
              <a:ext uri="{FF2B5EF4-FFF2-40B4-BE49-F238E27FC236}">
                <a16:creationId xmlns:a16="http://schemas.microsoft.com/office/drawing/2014/main" id="{4D30102C-EB10-4CB9-9404-1B5E6A2BF7EA}"/>
              </a:ext>
            </a:extLst>
          </p:cNvPr>
          <p:cNvSpPr>
            <a:spLocks xmlns:a="http://schemas.openxmlformats.org/drawingml/2006/main" noGrp="1"/>
          </p:cNvSpPr>
          <p:nvPr/>
        </p:nvSpPr>
        <p:spPr>
          <a:xfrm xmlns:a="http://schemas.openxmlformats.org/drawingml/2006/main">
            <a:off x="6096000" y="5010150"/>
            <a:ext cx="419100" cy="419100"/>
          </a:xfrm>
          <a:prstGeom xmlns:a="http://schemas.openxmlformats.org/drawingml/2006/main" prst="ellipse">
            <a:avLst/>
          </a:prstGeom>
          <a:solidFill xmlns:a="http://schemas.openxmlformats.org/drawingml/2006/main">
            <a:srgbClr val="77B7B2"/>
          </a:solidFill>
          <a:ln xmlns:a="http://schemas.openxmlformats.org/drawingml/2006/main" w="0">
            <a:noFill/>
            <a:prstDash val="solid"/>
          </a:ln>
        </p:spPr>
      </p:sp>
      <p:sp>
        <p:nvSpPr>
          <p:cNvPr id="20" name="sequence-number-3">
            <a:extLst xmlns:a="http://schemas.openxmlformats.org/drawingml/2006/main">
              <a:ext uri="{FF2B5EF4-FFF2-40B4-BE49-F238E27FC236}">
                <a16:creationId xmlns:a16="http://schemas.microsoft.com/office/drawing/2014/main" id="{DCE0D5DF-F30C-4AF8-A4FB-8E4E45251C8B}"/>
              </a:ext>
            </a:extLst>
          </p:cNvPr>
          <p:cNvSpPr>
            <a:spLocks xmlns:a="http://schemas.openxmlformats.org/drawingml/2006/main" noGrp="1"/>
          </p:cNvSpPr>
          <p:nvPr/>
        </p:nvSpPr>
        <p:spPr>
          <a:xfrm xmlns:a="http://schemas.openxmlformats.org/drawingml/2006/main">
            <a:off x="6096000" y="51054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03</a:t>
            </a:r>
          </a:p>
        </p:txBody>
      </p:sp>
      <p:sp>
        <p:nvSpPr>
          <p:cNvPr id="21" name="sequence-heading-3">
            <a:extLst xmlns:a="http://schemas.openxmlformats.org/drawingml/2006/main">
              <a:ext uri="{FF2B5EF4-FFF2-40B4-BE49-F238E27FC236}">
                <a16:creationId xmlns:a16="http://schemas.microsoft.com/office/drawing/2014/main" id="{8546F625-0A71-4911-BA4A-D0E4067BB9D6}"/>
              </a:ext>
            </a:extLst>
          </p:cNvPr>
          <p:cNvSpPr>
            <a:spLocks xmlns:a="http://schemas.openxmlformats.org/drawingml/2006/main" noGrp="1"/>
          </p:cNvSpPr>
          <p:nvPr/>
        </p:nvSpPr>
        <p:spPr>
          <a:xfrm xmlns:a="http://schemas.openxmlformats.org/drawingml/2006/main">
            <a:off x="6038850" y="5562600"/>
            <a:ext cx="1885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8232D"/>
                </a:solidFill>
                <a:latin typeface="Aptos"/>
                <a:ea typeface="Aptos"/>
                <a:cs typeface="Aptos"/>
              </a:defRPr>
            </a:pPr>
            <a:r>
              <a:rPr sz="1650" b="1">
                <a:solidFill>
                  <a:srgbClr val="18232D"/>
                </a:solidFill>
                <a:latin typeface="Aptos"/>
                <a:ea typeface="Aptos"/>
                <a:cs typeface="Aptos"/>
              </a:rPr>
              <a:t>TASKS</a:t>
            </a:r>
          </a:p>
        </p:txBody>
      </p:sp>
      <p:sp>
        <p:nvSpPr>
          <p:cNvPr id="22" name="sequence-body-3">
            <a:extLst xmlns:a="http://schemas.openxmlformats.org/drawingml/2006/main">
              <a:ext uri="{FF2B5EF4-FFF2-40B4-BE49-F238E27FC236}">
                <a16:creationId xmlns:a16="http://schemas.microsoft.com/office/drawing/2014/main" id="{7628AD9F-0399-41CE-88EC-7D916B812355}"/>
              </a:ext>
            </a:extLst>
          </p:cNvPr>
          <p:cNvSpPr>
            <a:spLocks xmlns:a="http://schemas.openxmlformats.org/drawingml/2006/main" noGrp="1"/>
          </p:cNvSpPr>
          <p:nvPr/>
        </p:nvSpPr>
        <p:spPr>
          <a:xfrm xmlns:a="http://schemas.openxmlformats.org/drawingml/2006/main">
            <a:off x="6038850" y="584835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65717A"/>
                </a:solidFill>
                <a:latin typeface="Aptos"/>
                <a:ea typeface="Aptos"/>
                <a:cs typeface="Aptos"/>
              </a:defRPr>
            </a:pPr>
            <a:r>
              <a:rPr sz="1650">
                <a:solidFill>
                  <a:srgbClr val="65717A"/>
                </a:solidFill>
                <a:latin typeface="Aptos"/>
                <a:ea typeface="Aptos"/>
                <a:cs typeface="Aptos"/>
              </a:rPr>
              <a:t>Open the job black box</a:t>
            </a:r>
          </a:p>
        </p:txBody>
      </p:sp>
      <p:sp>
        <p:nvSpPr>
          <p:cNvPr id="23" name="sequence-node-4">
            <a:extLst xmlns:a="http://schemas.openxmlformats.org/drawingml/2006/main">
              <a:ext uri="{FF2B5EF4-FFF2-40B4-BE49-F238E27FC236}">
                <a16:creationId xmlns:a16="http://schemas.microsoft.com/office/drawing/2014/main" id="{49E0C512-3A51-4717-9FA5-6A7917899F9F}"/>
              </a:ext>
            </a:extLst>
          </p:cNvPr>
          <p:cNvSpPr>
            <a:spLocks xmlns:a="http://schemas.openxmlformats.org/drawingml/2006/main" noGrp="1"/>
          </p:cNvSpPr>
          <p:nvPr/>
        </p:nvSpPr>
        <p:spPr>
          <a:xfrm xmlns:a="http://schemas.openxmlformats.org/drawingml/2006/main">
            <a:off x="8705850" y="5010150"/>
            <a:ext cx="419100" cy="419100"/>
          </a:xfrm>
          <a:prstGeom xmlns:a="http://schemas.openxmlformats.org/drawingml/2006/main" prst="ellipse">
            <a:avLst/>
          </a:prstGeom>
          <a:solidFill xmlns:a="http://schemas.openxmlformats.org/drawingml/2006/main">
            <a:srgbClr val="E4575B"/>
          </a:solidFill>
          <a:ln xmlns:a="http://schemas.openxmlformats.org/drawingml/2006/main" w="0">
            <a:noFill/>
            <a:prstDash val="solid"/>
          </a:ln>
        </p:spPr>
      </p:sp>
      <p:sp>
        <p:nvSpPr>
          <p:cNvPr id="24" name="sequence-number-4">
            <a:extLst xmlns:a="http://schemas.openxmlformats.org/drawingml/2006/main">
              <a:ext uri="{FF2B5EF4-FFF2-40B4-BE49-F238E27FC236}">
                <a16:creationId xmlns:a16="http://schemas.microsoft.com/office/drawing/2014/main" id="{38A2552C-EE64-437F-82DA-8285ACF85675}"/>
              </a:ext>
            </a:extLst>
          </p:cNvPr>
          <p:cNvSpPr>
            <a:spLocks xmlns:a="http://schemas.openxmlformats.org/drawingml/2006/main" noGrp="1"/>
          </p:cNvSpPr>
          <p:nvPr/>
        </p:nvSpPr>
        <p:spPr>
          <a:xfrm xmlns:a="http://schemas.openxmlformats.org/drawingml/2006/main">
            <a:off x="8705850" y="51054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04</a:t>
            </a:r>
          </a:p>
        </p:txBody>
      </p:sp>
      <p:sp>
        <p:nvSpPr>
          <p:cNvPr id="25" name="sequence-heading-4">
            <a:extLst xmlns:a="http://schemas.openxmlformats.org/drawingml/2006/main">
              <a:ext uri="{FF2B5EF4-FFF2-40B4-BE49-F238E27FC236}">
                <a16:creationId xmlns:a16="http://schemas.microsoft.com/office/drawing/2014/main" id="{B1D48D6F-7C90-4CF4-A55D-B6FC0AA55B3D}"/>
              </a:ext>
            </a:extLst>
          </p:cNvPr>
          <p:cNvSpPr>
            <a:spLocks xmlns:a="http://schemas.openxmlformats.org/drawingml/2006/main" noGrp="1"/>
          </p:cNvSpPr>
          <p:nvPr/>
        </p:nvSpPr>
        <p:spPr>
          <a:xfrm xmlns:a="http://schemas.openxmlformats.org/drawingml/2006/main">
            <a:off x="8648700" y="5562600"/>
            <a:ext cx="1885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8232D"/>
                </a:solidFill>
                <a:latin typeface="Aptos"/>
                <a:ea typeface="Aptos"/>
                <a:cs typeface="Aptos"/>
              </a:defRPr>
            </a:pPr>
            <a:r>
              <a:rPr sz="1650" b="1">
                <a:solidFill>
                  <a:srgbClr val="18232D"/>
                </a:solidFill>
                <a:latin typeface="Aptos"/>
                <a:ea typeface="Aptos"/>
                <a:cs typeface="Aptos"/>
              </a:rPr>
              <a:t>CONTEXT</a:t>
            </a:r>
          </a:p>
        </p:txBody>
      </p:sp>
      <p:sp>
        <p:nvSpPr>
          <p:cNvPr id="26" name="sequence-body-4">
            <a:extLst xmlns:a="http://schemas.openxmlformats.org/drawingml/2006/main">
              <a:ext uri="{FF2B5EF4-FFF2-40B4-BE49-F238E27FC236}">
                <a16:creationId xmlns:a16="http://schemas.microsoft.com/office/drawing/2014/main" id="{72AB79C0-B12F-4E21-87F6-CFC5DA2879FC}"/>
              </a:ext>
            </a:extLst>
          </p:cNvPr>
          <p:cNvSpPr>
            <a:spLocks xmlns:a="http://schemas.openxmlformats.org/drawingml/2006/main" noGrp="1"/>
          </p:cNvSpPr>
          <p:nvPr/>
        </p:nvSpPr>
        <p:spPr>
          <a:xfrm xmlns:a="http://schemas.openxmlformats.org/drawingml/2006/main">
            <a:off x="8648700" y="584835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65717A"/>
                </a:solidFill>
                <a:latin typeface="Aptos"/>
                <a:ea typeface="Aptos"/>
                <a:cs typeface="Aptos"/>
              </a:defRPr>
            </a:pPr>
            <a:r>
              <a:rPr sz="1650">
                <a:solidFill>
                  <a:srgbClr val="65717A"/>
                </a:solidFill>
                <a:latin typeface="Aptos"/>
                <a:ea typeface="Aptos"/>
                <a:cs typeface="Aptos"/>
              </a:rPr>
              <a:t>Preparation and occupation</a:t>
            </a:r>
          </a:p>
        </p:txBody>
      </p:sp>
      <p:sp>
        <p:nvSpPr>
          <p:cNvPr id="27" name="footer-line-2">
            <a:extLst xmlns:a="http://schemas.openxmlformats.org/drawingml/2006/main">
              <a:ext uri="{FF2B5EF4-FFF2-40B4-BE49-F238E27FC236}">
                <a16:creationId xmlns:a16="http://schemas.microsoft.com/office/drawing/2014/main" id="{3175EF09-B850-4155-A859-2F6A527A80E2}"/>
              </a:ext>
            </a:extLst>
          </p:cNvPr>
          <p:cNvSpPr>
            <a:spLocks xmlns:a="http://schemas.openxmlformats.org/drawingml/2006/main" noGrp="1"/>
          </p:cNvSpPr>
          <p:nvPr/>
        </p:nvSpPr>
        <p:spPr>
          <a:xfrm xmlns:a="http://schemas.openxmlformats.org/drawingml/2006/main">
            <a:off x="647700" y="6515100"/>
            <a:ext cx="10896600" cy="0"/>
          </a:xfrm>
          <a:prstGeom xmlns:a="http://schemas.openxmlformats.org/drawingml/2006/main" prst="line">
            <a:avLst/>
          </a:prstGeom>
          <a:noFill xmlns:a="http://schemas.openxmlformats.org/drawingml/2006/main"/>
          <a:ln xmlns:a="http://schemas.openxmlformats.org/drawingml/2006/main" w="9525">
            <a:solidFill>
              <a:srgbClr val="D8D6D0"/>
            </a:solidFill>
            <a:prstDash val="solid"/>
          </a:ln>
        </p:spPr>
      </p:sp>
      <p:sp>
        <p:nvSpPr>
          <p:cNvPr id="28" name="footer-label-2">
            <a:extLst xmlns:a="http://schemas.openxmlformats.org/drawingml/2006/main">
              <a:ext uri="{FF2B5EF4-FFF2-40B4-BE49-F238E27FC236}">
                <a16:creationId xmlns:a16="http://schemas.microsoft.com/office/drawing/2014/main" id="{4DF0CA41-A78B-40CF-AFB7-4AA78A7856FD}"/>
              </a:ext>
            </a:extLst>
          </p:cNvPr>
          <p:cNvSpPr>
            <a:spLocks xmlns:a="http://schemas.openxmlformats.org/drawingml/2006/main" noGrp="1"/>
          </p:cNvSpPr>
          <p:nvPr/>
        </p:nvSpPr>
        <p:spPr>
          <a:xfrm xmlns:a="http://schemas.openxmlformats.org/drawingml/2006/main">
            <a:off x="647700" y="6591300"/>
            <a:ext cx="457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65717A"/>
                </a:solidFill>
                <a:latin typeface="Aptos"/>
                <a:ea typeface="Aptos"/>
                <a:cs typeface="Aptos"/>
              </a:defRPr>
            </a:pPr>
            <a:r>
              <a:rPr sz="975" b="1">
                <a:solidFill>
                  <a:srgbClr val="65717A"/>
                </a:solidFill>
                <a:latin typeface="Aptos"/>
                <a:ea typeface="Aptos"/>
                <a:cs typeface="Aptos"/>
              </a:rPr>
              <a:t>AI AT WORK  /  TABLEAU FINAL PROJECT</a:t>
            </a:r>
          </a:p>
        </p:txBody>
      </p:sp>
    </p:spTree>
    <p:extLst>
      <p:ext uri="{BB962C8B-B14F-4D97-AF65-F5344CB8AC3E}">
        <p14:creationId xmlns:p14="http://schemas.microsoft.com/office/powerpoint/2010/main" val="548520362"/>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8" name="section-3">
            <a:extLst xmlns:a="http://schemas.openxmlformats.org/drawingml/2006/main">
              <a:ext uri="{FF2B5EF4-FFF2-40B4-BE49-F238E27FC236}">
                <a16:creationId xmlns:a16="http://schemas.microsoft.com/office/drawing/2014/main" id="{06160FF1-F523-4CBC-8FF9-8C5507E0C73A}"/>
              </a:ext>
            </a:extLst>
          </p:cNvPr>
          <p:cNvSpPr>
            <a:spLocks xmlns:a="http://schemas.openxmlformats.org/drawingml/2006/main" noGrp="1"/>
          </p:cNvSpPr>
          <p:nvPr/>
        </p:nvSpPr>
        <p:spPr>
          <a:xfrm xmlns:a="http://schemas.openxmlformats.org/drawingml/2006/main">
            <a:off x="647700" y="3238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E4575B"/>
                </a:solidFill>
                <a:latin typeface="Aptos"/>
                <a:ea typeface="Aptos"/>
                <a:cs typeface="Aptos"/>
              </a:defRPr>
            </a:pPr>
            <a:r>
              <a:rPr sz="1200" b="1">
                <a:solidFill>
                  <a:srgbClr val="E4575B"/>
                </a:solidFill>
                <a:latin typeface="Aptos"/>
                <a:ea typeface="Aptos"/>
                <a:cs typeface="Aptos"/>
              </a:rPr>
              <a:t>HOW WE ANSWER IT</a:t>
            </a:r>
          </a:p>
        </p:txBody>
      </p:sp>
      <p:sp>
        <p:nvSpPr>
          <p:cNvPr id="2" name="page-3">
            <a:extLst xmlns:a="http://schemas.openxmlformats.org/drawingml/2006/main">
              <a:ext uri="{FF2B5EF4-FFF2-40B4-BE49-F238E27FC236}">
                <a16:creationId xmlns:a16="http://schemas.microsoft.com/office/drawing/2014/main" id="{5DFA2F26-A592-4914-B4F4-DC6C86CEAEC9}"/>
              </a:ext>
            </a:extLst>
          </p:cNvPr>
          <p:cNvSpPr>
            <a:spLocks xmlns:a="http://schemas.openxmlformats.org/drawingml/2006/main" noGrp="1"/>
          </p:cNvSpPr>
          <p:nvPr/>
        </p:nvSpPr>
        <p:spPr>
          <a:xfrm xmlns:a="http://schemas.openxmlformats.org/drawingml/2006/main">
            <a:off x="11049000" y="3238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5717A"/>
                </a:solidFill>
                <a:latin typeface="Aptos"/>
                <a:ea typeface="Aptos"/>
                <a:cs typeface="Aptos"/>
              </a:defRPr>
            </a:pPr>
            <a:r>
              <a:rPr sz="1200" b="1">
                <a:solidFill>
                  <a:srgbClr val="65717A"/>
                </a:solidFill>
                <a:latin typeface="Aptos"/>
                <a:ea typeface="Aptos"/>
                <a:cs typeface="Aptos"/>
              </a:rPr>
              <a:t>03</a:t>
            </a:r>
          </a:p>
        </p:txBody>
      </p:sp>
      <p:sp>
        <p:nvSpPr>
          <p:cNvPr id="3" name="title-3">
            <a:extLst xmlns:a="http://schemas.openxmlformats.org/drawingml/2006/main">
              <a:ext uri="{FF2B5EF4-FFF2-40B4-BE49-F238E27FC236}">
                <a16:creationId xmlns:a16="http://schemas.microsoft.com/office/drawing/2014/main" id="{95E99D8C-1FE1-4747-9D02-D2739C54059E}"/>
              </a:ext>
            </a:extLst>
          </p:cNvPr>
          <p:cNvSpPr>
            <a:spLocks xmlns:a="http://schemas.openxmlformats.org/drawingml/2006/main" noGrp="1"/>
          </p:cNvSpPr>
          <p:nvPr/>
        </p:nvSpPr>
        <p:spPr>
          <a:xfrm xmlns:a="http://schemas.openxmlformats.org/drawingml/2006/main">
            <a:off x="647700" y="666750"/>
            <a:ext cx="10896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8232D"/>
                </a:solidFill>
                <a:latin typeface="Aptos"/>
                <a:ea typeface="Aptos"/>
                <a:cs typeface="Aptos"/>
              </a:defRPr>
            </a:pPr>
            <a:r>
              <a:rPr sz="3600" b="1">
                <a:solidFill>
                  <a:srgbClr val="18232D"/>
                </a:solidFill>
                <a:latin typeface="Aptos"/>
                <a:ea typeface="Aptos"/>
                <a:cs typeface="Aptos"/>
              </a:rPr>
              <a:t>One occupation-task dataset connects AI presence to AI's role.</a:t>
            </a:r>
          </a:p>
        </p:txBody>
      </p:sp>
      <p:sp>
        <p:nvSpPr>
          <p:cNvPr id="4" name="row-count">
            <a:extLst xmlns:a="http://schemas.openxmlformats.org/drawingml/2006/main">
              <a:ext uri="{FF2B5EF4-FFF2-40B4-BE49-F238E27FC236}">
                <a16:creationId xmlns:a16="http://schemas.microsoft.com/office/drawing/2014/main" id="{77030EA9-18B3-4B7B-A7B3-6673E39C7402}"/>
              </a:ext>
            </a:extLst>
          </p:cNvPr>
          <p:cNvSpPr>
            <a:spLocks xmlns:a="http://schemas.openxmlformats.org/drawingml/2006/main" noGrp="1"/>
          </p:cNvSpPr>
          <p:nvPr/>
        </p:nvSpPr>
        <p:spPr>
          <a:xfrm xmlns:a="http://schemas.openxmlformats.org/drawingml/2006/main">
            <a:off x="666750" y="1676400"/>
            <a:ext cx="314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E4575B"/>
                </a:solidFill>
                <a:latin typeface="Aptos"/>
                <a:ea typeface="Aptos"/>
                <a:cs typeface="Aptos"/>
              </a:defRPr>
            </a:pPr>
            <a:r>
              <a:rPr sz="4350" b="1">
                <a:solidFill>
                  <a:srgbClr val="E4575B"/>
                </a:solidFill>
                <a:latin typeface="Aptos"/>
                <a:ea typeface="Aptos"/>
                <a:cs typeface="Aptos"/>
              </a:rPr>
              <a:t>3,963</a:t>
            </a:r>
          </a:p>
        </p:txBody>
      </p:sp>
      <p:sp>
        <p:nvSpPr>
          <p:cNvPr id="5" name="row-count-label">
            <a:extLst xmlns:a="http://schemas.openxmlformats.org/drawingml/2006/main">
              <a:ext uri="{FF2B5EF4-FFF2-40B4-BE49-F238E27FC236}">
                <a16:creationId xmlns:a16="http://schemas.microsoft.com/office/drawing/2014/main" id="{63880CB9-258E-4FB7-B3DE-7D3FFED503B2}"/>
              </a:ext>
            </a:extLst>
          </p:cNvPr>
          <p:cNvSpPr>
            <a:spLocks xmlns:a="http://schemas.openxmlformats.org/drawingml/2006/main" noGrp="1"/>
          </p:cNvSpPr>
          <p:nvPr/>
        </p:nvSpPr>
        <p:spPr>
          <a:xfrm xmlns:a="http://schemas.openxmlformats.org/drawingml/2006/main">
            <a:off x="685800" y="23241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8232D"/>
                </a:solidFill>
                <a:latin typeface="Aptos"/>
                <a:ea typeface="Aptos"/>
                <a:cs typeface="Aptos"/>
              </a:defRPr>
            </a:pPr>
            <a:r>
              <a:rPr sz="1725" b="1">
                <a:solidFill>
                  <a:srgbClr val="18232D"/>
                </a:solidFill>
                <a:latin typeface="Aptos"/>
                <a:ea typeface="Aptos"/>
                <a:cs typeface="Aptos"/>
              </a:rPr>
              <a:t>occupation-task pairs</a:t>
            </a:r>
          </a:p>
        </p:txBody>
      </p:sp>
      <p:sp>
        <p:nvSpPr>
          <p:cNvPr id="6" name="metric-rule-1">
            <a:extLst xmlns:a="http://schemas.openxmlformats.org/drawingml/2006/main">
              <a:ext uri="{FF2B5EF4-FFF2-40B4-BE49-F238E27FC236}">
                <a16:creationId xmlns:a16="http://schemas.microsoft.com/office/drawing/2014/main" id="{EDDC2A05-27B0-46AF-85CB-2FAE214A39A8}"/>
              </a:ext>
            </a:extLst>
          </p:cNvPr>
          <p:cNvSpPr>
            <a:spLocks xmlns:a="http://schemas.openxmlformats.org/drawingml/2006/main" noGrp="1"/>
          </p:cNvSpPr>
          <p:nvPr/>
        </p:nvSpPr>
        <p:spPr>
          <a:xfrm xmlns:a="http://schemas.openxmlformats.org/drawingml/2006/main">
            <a:off x="685800" y="2800350"/>
            <a:ext cx="3638550" cy="0"/>
          </a:xfrm>
          <a:prstGeom xmlns:a="http://schemas.openxmlformats.org/drawingml/2006/main" prst="line">
            <a:avLst/>
          </a:prstGeom>
          <a:noFill xmlns:a="http://schemas.openxmlformats.org/drawingml/2006/main"/>
          <a:ln xmlns:a="http://schemas.openxmlformats.org/drawingml/2006/main" w="19050">
            <a:solidFill>
              <a:srgbClr val="D8D6D0"/>
            </a:solidFill>
            <a:prstDash val="solid"/>
          </a:ln>
        </p:spPr>
      </p:sp>
      <p:sp>
        <p:nvSpPr>
          <p:cNvPr id="7" name="dataset-scope">
            <a:extLst xmlns:a="http://schemas.openxmlformats.org/drawingml/2006/main">
              <a:ext uri="{FF2B5EF4-FFF2-40B4-BE49-F238E27FC236}">
                <a16:creationId xmlns:a16="http://schemas.microsoft.com/office/drawing/2014/main" id="{FC2BE0FB-95A7-43A8-9542-C0F28AF456F6}"/>
              </a:ext>
            </a:extLst>
          </p:cNvPr>
          <p:cNvSpPr>
            <a:spLocks xmlns:a="http://schemas.openxmlformats.org/drawingml/2006/main" noGrp="1"/>
          </p:cNvSpPr>
          <p:nvPr/>
        </p:nvSpPr>
        <p:spPr>
          <a:xfrm xmlns:a="http://schemas.openxmlformats.org/drawingml/2006/main">
            <a:off x="685800" y="2990850"/>
            <a:ext cx="3667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8232D"/>
                </a:solidFill>
                <a:latin typeface="Aptos"/>
                <a:ea typeface="Aptos"/>
                <a:cs typeface="Aptos"/>
              </a:defRPr>
            </a:pPr>
            <a:r>
              <a:rPr sz="1800" b="1">
                <a:solidFill>
                  <a:srgbClr val="18232D"/>
                </a:solidFill>
                <a:latin typeface="Aptos"/>
                <a:ea typeface="Aptos"/>
                <a:cs typeface="Aptos"/>
              </a:rPr>
              <a:t>731 occupations  /  5 interaction modes</a:t>
            </a:r>
          </a:p>
        </p:txBody>
      </p:sp>
      <p:sp>
        <p:nvSpPr>
          <p:cNvPr id="8" name="automation-heading">
            <a:extLst xmlns:a="http://schemas.openxmlformats.org/drawingml/2006/main">
              <a:ext uri="{FF2B5EF4-FFF2-40B4-BE49-F238E27FC236}">
                <a16:creationId xmlns:a16="http://schemas.microsoft.com/office/drawing/2014/main" id="{B8FF763D-5604-4092-A3BF-6B7024D7F50D}"/>
              </a:ext>
            </a:extLst>
          </p:cNvPr>
          <p:cNvSpPr>
            <a:spLocks xmlns:a="http://schemas.openxmlformats.org/drawingml/2006/main" noGrp="1"/>
          </p:cNvSpPr>
          <p:nvPr/>
        </p:nvSpPr>
        <p:spPr>
          <a:xfrm xmlns:a="http://schemas.openxmlformats.org/drawingml/2006/main">
            <a:off x="685800" y="381000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397F7A"/>
                </a:solidFill>
                <a:latin typeface="Aptos"/>
                <a:ea typeface="Aptos"/>
                <a:cs typeface="Aptos"/>
              </a:defRPr>
            </a:pPr>
            <a:r>
              <a:rPr sz="2400" b="1">
                <a:solidFill>
                  <a:srgbClr val="397F7A"/>
                </a:solidFill>
                <a:latin typeface="Aptos"/>
                <a:ea typeface="Aptos"/>
                <a:cs typeface="Aptos"/>
              </a:rPr>
              <a:t>Automation</a:t>
            </a:r>
          </a:p>
        </p:txBody>
      </p:sp>
      <p:sp>
        <p:nvSpPr>
          <p:cNvPr id="9" name="automation-formula">
            <a:extLst xmlns:a="http://schemas.openxmlformats.org/drawingml/2006/main">
              <a:ext uri="{FF2B5EF4-FFF2-40B4-BE49-F238E27FC236}">
                <a16:creationId xmlns:a16="http://schemas.microsoft.com/office/drawing/2014/main" id="{CC046666-5558-440C-8BAD-8215F7469167}"/>
              </a:ext>
            </a:extLst>
          </p:cNvPr>
          <p:cNvSpPr>
            <a:spLocks xmlns:a="http://schemas.openxmlformats.org/drawingml/2006/main" noGrp="1"/>
          </p:cNvSpPr>
          <p:nvPr/>
        </p:nvSpPr>
        <p:spPr>
          <a:xfrm xmlns:a="http://schemas.openxmlformats.org/drawingml/2006/main">
            <a:off x="685800" y="42291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65717A"/>
                </a:solidFill>
                <a:latin typeface="Aptos"/>
                <a:ea typeface="Aptos"/>
                <a:cs typeface="Aptos"/>
              </a:defRPr>
            </a:pPr>
            <a:r>
              <a:rPr sz="1650">
                <a:solidFill>
                  <a:srgbClr val="65717A"/>
                </a:solidFill>
                <a:latin typeface="Aptos"/>
                <a:ea typeface="Aptos"/>
                <a:cs typeface="Aptos"/>
              </a:rPr>
              <a:t>directive + feedback loop</a:t>
            </a:r>
          </a:p>
        </p:txBody>
      </p:sp>
      <p:sp>
        <p:nvSpPr>
          <p:cNvPr id="10" name="augmentation-heading">
            <a:extLst xmlns:a="http://schemas.openxmlformats.org/drawingml/2006/main">
              <a:ext uri="{FF2B5EF4-FFF2-40B4-BE49-F238E27FC236}">
                <a16:creationId xmlns:a16="http://schemas.microsoft.com/office/drawing/2014/main" id="{54F15150-F2A2-4161-B03E-16429132B2BF}"/>
              </a:ext>
            </a:extLst>
          </p:cNvPr>
          <p:cNvSpPr>
            <a:spLocks xmlns:a="http://schemas.openxmlformats.org/drawingml/2006/main" noGrp="1"/>
          </p:cNvSpPr>
          <p:nvPr/>
        </p:nvSpPr>
        <p:spPr>
          <a:xfrm xmlns:a="http://schemas.openxmlformats.org/drawingml/2006/main">
            <a:off x="685800" y="468630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B9383F"/>
                </a:solidFill>
                <a:latin typeface="Aptos"/>
                <a:ea typeface="Aptos"/>
                <a:cs typeface="Aptos"/>
              </a:defRPr>
            </a:pPr>
            <a:r>
              <a:rPr sz="2400" b="1">
                <a:solidFill>
                  <a:srgbClr val="B9383F"/>
                </a:solidFill>
                <a:latin typeface="Aptos"/>
                <a:ea typeface="Aptos"/>
                <a:cs typeface="Aptos"/>
              </a:rPr>
              <a:t>Augmentation</a:t>
            </a:r>
          </a:p>
        </p:txBody>
      </p:sp>
      <p:sp>
        <p:nvSpPr>
          <p:cNvPr id="11" name="augmentation-formula">
            <a:extLst xmlns:a="http://schemas.openxmlformats.org/drawingml/2006/main">
              <a:ext uri="{FF2B5EF4-FFF2-40B4-BE49-F238E27FC236}">
                <a16:creationId xmlns:a16="http://schemas.microsoft.com/office/drawing/2014/main" id="{4EEEFE0F-ACD8-46B7-AA7A-7987140215FD}"/>
              </a:ext>
            </a:extLst>
          </p:cNvPr>
          <p:cNvSpPr>
            <a:spLocks xmlns:a="http://schemas.openxmlformats.org/drawingml/2006/main" noGrp="1"/>
          </p:cNvSpPr>
          <p:nvPr/>
        </p:nvSpPr>
        <p:spPr>
          <a:xfrm xmlns:a="http://schemas.openxmlformats.org/drawingml/2006/main">
            <a:off x="685800" y="5105400"/>
            <a:ext cx="371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65717A"/>
                </a:solidFill>
                <a:latin typeface="Aptos"/>
                <a:ea typeface="Aptos"/>
                <a:cs typeface="Aptos"/>
              </a:defRPr>
            </a:pPr>
            <a:r>
              <a:rPr sz="1650">
                <a:solidFill>
                  <a:srgbClr val="65717A"/>
                </a:solidFill>
                <a:latin typeface="Aptos"/>
                <a:ea typeface="Aptos"/>
                <a:cs typeface="Aptos"/>
              </a:rPr>
              <a:t>iteration + validation + learning</a:t>
            </a:r>
          </a:p>
        </p:txBody>
      </p:sp>
      <p:sp>
        <p:nvSpPr>
          <p:cNvPr id="12" name="role-balance-formula">
            <a:extLst xmlns:a="http://schemas.openxmlformats.org/drawingml/2006/main">
              <a:ext uri="{FF2B5EF4-FFF2-40B4-BE49-F238E27FC236}">
                <a16:creationId xmlns:a16="http://schemas.microsoft.com/office/drawing/2014/main" id="{844C2806-BDD8-492F-BD4E-B9CD89E6E654}"/>
              </a:ext>
            </a:extLst>
          </p:cNvPr>
          <p:cNvSpPr>
            <a:spLocks xmlns:a="http://schemas.openxmlformats.org/drawingml/2006/main" noGrp="1"/>
          </p:cNvSpPr>
          <p:nvPr/>
        </p:nvSpPr>
        <p:spPr>
          <a:xfrm xmlns:a="http://schemas.openxmlformats.org/drawingml/2006/main">
            <a:off x="685800" y="5810250"/>
            <a:ext cx="3905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8232D"/>
                </a:solidFill>
                <a:latin typeface="Aptos"/>
                <a:ea typeface="Aptos"/>
                <a:cs typeface="Aptos"/>
              </a:defRPr>
            </a:pPr>
            <a:r>
              <a:rPr sz="1650" b="1">
                <a:solidFill>
                  <a:srgbClr val="18232D"/>
                </a:solidFill>
                <a:latin typeface="Aptos"/>
                <a:ea typeface="Aptos"/>
                <a:cs typeface="Aptos"/>
              </a:rPr>
              <a:t>Role balance = augmentation - automation</a:t>
            </a:r>
          </a:p>
        </p:txBody>
      </p:sp>
      <p:sp>
        <p:nvSpPr>
          <p:cNvPr id="13" name="method-dashboard-backing">
            <a:extLst xmlns:a="http://schemas.openxmlformats.org/drawingml/2006/main">
              <a:ext uri="{FF2B5EF4-FFF2-40B4-BE49-F238E27FC236}">
                <a16:creationId xmlns:a16="http://schemas.microsoft.com/office/drawing/2014/main" id="{DE6AD277-9E92-44D6-9A9E-4E60727B82B6}"/>
              </a:ext>
            </a:extLst>
          </p:cNvPr>
          <p:cNvSpPr>
            <a:spLocks xmlns:a="http://schemas.openxmlformats.org/drawingml/2006/main" noGrp="1"/>
          </p:cNvSpPr>
          <p:nvPr/>
        </p:nvSpPr>
        <p:spPr>
          <a:xfrm xmlns:a="http://schemas.openxmlformats.org/drawingml/2006/main">
            <a:off x="4895850" y="1695450"/>
            <a:ext cx="6686550" cy="3971925"/>
          </a:xfrm>
          <a:prstGeom xmlns:a="http://schemas.openxmlformats.org/drawingml/2006/main" prst="roundRect">
            <a:avLst>
              <a:gd name="adj" fmla="val 2398"/>
            </a:avLst>
          </a:prstGeom>
          <a:solidFill xmlns:a="http://schemas.openxmlformats.org/drawingml/2006/main">
            <a:srgbClr val="FFFFFF"/>
          </a:solidFill>
          <a:ln xmlns:a="http://schemas.openxmlformats.org/drawingml/2006/main" w="9525">
            <a:solidFill>
              <a:srgbClr val="CBCBC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227aae70a0b34397"/>
          <a:stretch xmlns:a="http://schemas.openxmlformats.org/drawingml/2006/main"/>
        </p:blipFill>
        <p:spPr>
          <a:xfrm xmlns:a="http://schemas.openxmlformats.org/drawingml/2006/main">
            <a:off x="4953000" y="1754828"/>
            <a:ext cx="6572250" cy="3853169"/>
          </a:xfrm>
          <a:prstGeom xmlns:a="http://schemas.openxmlformats.org/drawingml/2006/main" prst="roundRect">
            <a:avLst>
              <a:gd name="adj" fmla="val 1975"/>
            </a:avLst>
          </a:prstGeom>
        </p:spPr>
      </p:pic>
      <p:sp>
        <p:nvSpPr>
          <p:cNvPr id="15" name="grain-note">
            <a:extLst xmlns:a="http://schemas.openxmlformats.org/drawingml/2006/main">
              <a:ext uri="{FF2B5EF4-FFF2-40B4-BE49-F238E27FC236}">
                <a16:creationId xmlns:a16="http://schemas.microsoft.com/office/drawing/2014/main" id="{1BE64ADC-8367-444E-9690-98B800A3427A}"/>
              </a:ext>
            </a:extLst>
          </p:cNvPr>
          <p:cNvSpPr>
            <a:spLocks xmlns:a="http://schemas.openxmlformats.org/drawingml/2006/main" noGrp="1"/>
          </p:cNvSpPr>
          <p:nvPr/>
        </p:nvSpPr>
        <p:spPr>
          <a:xfrm xmlns:a="http://schemas.openxmlformats.org/drawingml/2006/main">
            <a:off x="4953000" y="58102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a:solidFill>
                  <a:srgbClr val="65717A"/>
                </a:solidFill>
                <a:latin typeface="Aptos"/>
                <a:ea typeface="Aptos"/>
                <a:cs typeface="Aptos"/>
              </a:defRPr>
            </a:pPr>
            <a:r>
              <a:rPr sz="1275">
                <a:solidFill>
                  <a:srgbClr val="65717A"/>
                </a:solidFill>
                <a:latin typeface="Aptos"/>
                <a:ea typeface="Aptos"/>
                <a:cs typeface="Aptos"/>
              </a:rPr>
              <a:t>Grain: one unique soc_code x task_id pair</a:t>
            </a:r>
          </a:p>
        </p:txBody>
      </p:sp>
      <p:sp>
        <p:nvSpPr>
          <p:cNvPr id="16" name="footer-line-3">
            <a:extLst xmlns:a="http://schemas.openxmlformats.org/drawingml/2006/main">
              <a:ext uri="{FF2B5EF4-FFF2-40B4-BE49-F238E27FC236}">
                <a16:creationId xmlns:a16="http://schemas.microsoft.com/office/drawing/2014/main" id="{73C1A4CA-EB5A-42F6-AB15-18D8A853641B}"/>
              </a:ext>
            </a:extLst>
          </p:cNvPr>
          <p:cNvSpPr>
            <a:spLocks xmlns:a="http://schemas.openxmlformats.org/drawingml/2006/main" noGrp="1"/>
          </p:cNvSpPr>
          <p:nvPr/>
        </p:nvSpPr>
        <p:spPr>
          <a:xfrm xmlns:a="http://schemas.openxmlformats.org/drawingml/2006/main">
            <a:off x="647700" y="6515100"/>
            <a:ext cx="10896600" cy="0"/>
          </a:xfrm>
          <a:prstGeom xmlns:a="http://schemas.openxmlformats.org/drawingml/2006/main" prst="line">
            <a:avLst/>
          </a:prstGeom>
          <a:noFill xmlns:a="http://schemas.openxmlformats.org/drawingml/2006/main"/>
          <a:ln xmlns:a="http://schemas.openxmlformats.org/drawingml/2006/main" w="9525">
            <a:solidFill>
              <a:srgbClr val="D8D6D0"/>
            </a:solidFill>
            <a:prstDash val="solid"/>
          </a:ln>
        </p:spPr>
      </p:sp>
      <p:sp>
        <p:nvSpPr>
          <p:cNvPr id="17" name="footer-label-3">
            <a:extLst xmlns:a="http://schemas.openxmlformats.org/drawingml/2006/main">
              <a:ext uri="{FF2B5EF4-FFF2-40B4-BE49-F238E27FC236}">
                <a16:creationId xmlns:a16="http://schemas.microsoft.com/office/drawing/2014/main" id="{C979C4B8-0D9A-4D6A-AA17-DD6BEF79749D}"/>
              </a:ext>
            </a:extLst>
          </p:cNvPr>
          <p:cNvSpPr>
            <a:spLocks xmlns:a="http://schemas.openxmlformats.org/drawingml/2006/main" noGrp="1"/>
          </p:cNvSpPr>
          <p:nvPr/>
        </p:nvSpPr>
        <p:spPr>
          <a:xfrm xmlns:a="http://schemas.openxmlformats.org/drawingml/2006/main">
            <a:off x="647700" y="6591300"/>
            <a:ext cx="457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65717A"/>
                </a:solidFill>
                <a:latin typeface="Aptos"/>
                <a:ea typeface="Aptos"/>
                <a:cs typeface="Aptos"/>
              </a:defRPr>
            </a:pPr>
            <a:r>
              <a:rPr sz="975" b="1">
                <a:solidFill>
                  <a:srgbClr val="65717A"/>
                </a:solidFill>
                <a:latin typeface="Aptos"/>
                <a:ea typeface="Aptos"/>
                <a:cs typeface="Aptos"/>
              </a:rPr>
              <a:t>AI AT WORK  /  TABLEAU FINAL PROJECT</a:t>
            </a:r>
          </a:p>
        </p:txBody>
      </p:sp>
    </p:spTree>
    <p:extLst>
      <p:ext uri="{BB962C8B-B14F-4D97-AF65-F5344CB8AC3E}">
        <p14:creationId xmlns:p14="http://schemas.microsoft.com/office/powerpoint/2010/main" val="1681323368"/>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section-4">
            <a:extLst xmlns:a="http://schemas.openxmlformats.org/drawingml/2006/main">
              <a:ext uri="{FF2B5EF4-FFF2-40B4-BE49-F238E27FC236}">
                <a16:creationId xmlns:a16="http://schemas.microsoft.com/office/drawing/2014/main" id="{BA9F3DA3-EBD0-4647-80A8-C16D74CF18B1}"/>
              </a:ext>
            </a:extLst>
          </p:cNvPr>
          <p:cNvSpPr>
            <a:spLocks xmlns:a="http://schemas.openxmlformats.org/drawingml/2006/main" noGrp="1"/>
          </p:cNvSpPr>
          <p:nvPr/>
        </p:nvSpPr>
        <p:spPr>
          <a:xfrm xmlns:a="http://schemas.openxmlformats.org/drawingml/2006/main">
            <a:off x="647700" y="3238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2F713D"/>
                </a:solidFill>
                <a:latin typeface="Aptos"/>
                <a:ea typeface="Aptos"/>
                <a:cs typeface="Aptos"/>
              </a:defRPr>
            </a:pPr>
            <a:r>
              <a:rPr sz="1200" b="1">
                <a:solidFill>
                  <a:srgbClr val="2F713D"/>
                </a:solidFill>
                <a:latin typeface="Aptos"/>
                <a:ea typeface="Aptos"/>
                <a:cs typeface="Aptos"/>
              </a:rPr>
              <a:t>FINDING 1 - WHERE AI ENTERS WORK</a:t>
            </a:r>
          </a:p>
        </p:txBody>
      </p:sp>
      <p:sp>
        <p:nvSpPr>
          <p:cNvPr id="2" name="page-4">
            <a:extLst xmlns:a="http://schemas.openxmlformats.org/drawingml/2006/main">
              <a:ext uri="{FF2B5EF4-FFF2-40B4-BE49-F238E27FC236}">
                <a16:creationId xmlns:a16="http://schemas.microsoft.com/office/drawing/2014/main" id="{A6FD0E01-4B82-42B8-ACA4-B02D6B47BC49}"/>
              </a:ext>
            </a:extLst>
          </p:cNvPr>
          <p:cNvSpPr>
            <a:spLocks xmlns:a="http://schemas.openxmlformats.org/drawingml/2006/main" noGrp="1"/>
          </p:cNvSpPr>
          <p:nvPr/>
        </p:nvSpPr>
        <p:spPr>
          <a:xfrm xmlns:a="http://schemas.openxmlformats.org/drawingml/2006/main">
            <a:off x="11049000" y="3238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5717A"/>
                </a:solidFill>
                <a:latin typeface="Aptos"/>
                <a:ea typeface="Aptos"/>
                <a:cs typeface="Aptos"/>
              </a:defRPr>
            </a:pPr>
            <a:r>
              <a:rPr sz="1200" b="1">
                <a:solidFill>
                  <a:srgbClr val="65717A"/>
                </a:solidFill>
                <a:latin typeface="Aptos"/>
                <a:ea typeface="Aptos"/>
                <a:cs typeface="Aptos"/>
              </a:rPr>
              <a:t>04</a:t>
            </a:r>
          </a:p>
        </p:txBody>
      </p:sp>
      <p:sp>
        <p:nvSpPr>
          <p:cNvPr id="3" name="title-4">
            <a:extLst xmlns:a="http://schemas.openxmlformats.org/drawingml/2006/main">
              <a:ext uri="{FF2B5EF4-FFF2-40B4-BE49-F238E27FC236}">
                <a16:creationId xmlns:a16="http://schemas.microsoft.com/office/drawing/2014/main" id="{3FAF1B0B-3A37-4449-A8DE-946B578E1224}"/>
              </a:ext>
            </a:extLst>
          </p:cNvPr>
          <p:cNvSpPr>
            <a:spLocks xmlns:a="http://schemas.openxmlformats.org/drawingml/2006/main" noGrp="1"/>
          </p:cNvSpPr>
          <p:nvPr/>
        </p:nvSpPr>
        <p:spPr>
          <a:xfrm xmlns:a="http://schemas.openxmlformats.org/drawingml/2006/main">
            <a:off x="647700" y="666750"/>
            <a:ext cx="108966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8232D"/>
                </a:solidFill>
                <a:latin typeface="Aptos"/>
                <a:ea typeface="Aptos"/>
                <a:cs typeface="Aptos"/>
              </a:defRPr>
            </a:pPr>
            <a:r>
              <a:rPr sz="3600" b="1">
                <a:solidFill>
                  <a:srgbClr val="18232D"/>
                </a:solidFill>
                <a:latin typeface="Aptos"/>
                <a:ea typeface="Aptos"/>
                <a:cs typeface="Aptos"/>
              </a:rPr>
              <a:t>Observed AI use is concentrated in a small set</a:t>
            </a:r>
          </a:p>
          <a:p xmlns:a="http://schemas.openxmlformats.org/drawingml/2006/main">
            <a:pPr algn="l">
              <a:defRPr sz="3600" b="1">
                <a:solidFill>
                  <a:srgbClr val="18232D"/>
                </a:solidFill>
                <a:latin typeface="Aptos"/>
                <a:ea typeface="Aptos"/>
                <a:cs typeface="Aptos"/>
              </a:defRPr>
            </a:pPr>
            <a:r>
              <a:rPr sz="3600" b="1">
                <a:solidFill>
                  <a:srgbClr val="18232D"/>
                </a:solidFill>
                <a:latin typeface="Aptos"/>
                <a:ea typeface="Aptos"/>
                <a:cs typeface="Aptos"/>
              </a:rPr>
              <a:t>of occupational families.</a:t>
            </a:r>
          </a:p>
        </p:txBody>
      </p:sp>
      <p:sp>
        <p:nvSpPr>
          <p:cNvPr id="4" name="concentration-dashboard-backing">
            <a:extLst xmlns:a="http://schemas.openxmlformats.org/drawingml/2006/main">
              <a:ext uri="{FF2B5EF4-FFF2-40B4-BE49-F238E27FC236}">
                <a16:creationId xmlns:a16="http://schemas.microsoft.com/office/drawing/2014/main" id="{E2ED7374-C1F9-447F-BA30-588B3917B31F}"/>
              </a:ext>
            </a:extLst>
          </p:cNvPr>
          <p:cNvSpPr>
            <a:spLocks xmlns:a="http://schemas.openxmlformats.org/drawingml/2006/main" noGrp="1"/>
          </p:cNvSpPr>
          <p:nvPr/>
        </p:nvSpPr>
        <p:spPr>
          <a:xfrm xmlns:a="http://schemas.openxmlformats.org/drawingml/2006/main">
            <a:off x="533400" y="1695450"/>
            <a:ext cx="7791450" cy="4638675"/>
          </a:xfrm>
          <a:prstGeom xmlns:a="http://schemas.openxmlformats.org/drawingml/2006/main" prst="roundRect">
            <a:avLst>
              <a:gd name="adj" fmla="val 2053"/>
            </a:avLst>
          </a:prstGeom>
          <a:solidFill xmlns:a="http://schemas.openxmlformats.org/drawingml/2006/main">
            <a:srgbClr val="FFFFFF"/>
          </a:solidFill>
          <a:ln xmlns:a="http://schemas.openxmlformats.org/drawingml/2006/main" w="9525">
            <a:solidFill>
              <a:srgbClr val="CBCBC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83f93095a9b42e2"/>
          <a:stretch xmlns:a="http://schemas.openxmlformats.org/drawingml/2006/main"/>
        </p:blipFill>
        <p:spPr>
          <a:xfrm xmlns:a="http://schemas.openxmlformats.org/drawingml/2006/main">
            <a:off x="598966" y="1752600"/>
            <a:ext cx="7660317" cy="4524375"/>
          </a:xfrm>
          <a:prstGeom xmlns:a="http://schemas.openxmlformats.org/drawingml/2006/main" prst="roundRect">
            <a:avLst>
              <a:gd name="adj" fmla="val 1684"/>
            </a:avLst>
          </a:prstGeom>
        </p:spPr>
      </p:pic>
      <p:sp>
        <p:nvSpPr>
          <p:cNvPr id="6" name="concentration-stat">
            <a:extLst xmlns:a="http://schemas.openxmlformats.org/drawingml/2006/main">
              <a:ext uri="{FF2B5EF4-FFF2-40B4-BE49-F238E27FC236}">
                <a16:creationId xmlns:a16="http://schemas.microsoft.com/office/drawing/2014/main" id="{38665EA1-77DC-4A7F-829B-07EB6645EDB6}"/>
              </a:ext>
            </a:extLst>
          </p:cNvPr>
          <p:cNvSpPr>
            <a:spLocks xmlns:a="http://schemas.openxmlformats.org/drawingml/2006/main" noGrp="1"/>
          </p:cNvSpPr>
          <p:nvPr/>
        </p:nvSpPr>
        <p:spPr>
          <a:xfrm xmlns:a="http://schemas.openxmlformats.org/drawingml/2006/main">
            <a:off x="8667750" y="1924050"/>
            <a:ext cx="2476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2F713D"/>
                </a:solidFill>
                <a:latin typeface="Aptos"/>
                <a:ea typeface="Aptos"/>
                <a:cs typeface="Aptos"/>
              </a:defRPr>
            </a:pPr>
            <a:r>
              <a:rPr sz="4500" b="1">
                <a:solidFill>
                  <a:srgbClr val="2F713D"/>
                </a:solidFill>
                <a:latin typeface="Aptos"/>
                <a:ea typeface="Aptos"/>
                <a:cs typeface="Aptos"/>
              </a:rPr>
              <a:t>~39%</a:t>
            </a:r>
          </a:p>
        </p:txBody>
      </p:sp>
      <p:sp>
        <p:nvSpPr>
          <p:cNvPr id="7" name="concentration-stat-label">
            <a:extLst xmlns:a="http://schemas.openxmlformats.org/drawingml/2006/main">
              <a:ext uri="{FF2B5EF4-FFF2-40B4-BE49-F238E27FC236}">
                <a16:creationId xmlns:a16="http://schemas.microsoft.com/office/drawing/2014/main" id="{235FEC7D-075B-4B52-A03A-53AC937E4307}"/>
              </a:ext>
            </a:extLst>
          </p:cNvPr>
          <p:cNvSpPr>
            <a:spLocks xmlns:a="http://schemas.openxmlformats.org/drawingml/2006/main" noGrp="1"/>
          </p:cNvSpPr>
          <p:nvPr/>
        </p:nvSpPr>
        <p:spPr>
          <a:xfrm xmlns:a="http://schemas.openxmlformats.org/drawingml/2006/main">
            <a:off x="8686800" y="2628900"/>
            <a:ext cx="280987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8232D"/>
                </a:solidFill>
                <a:latin typeface="Aptos"/>
                <a:ea typeface="Aptos"/>
                <a:cs typeface="Aptos"/>
              </a:defRPr>
            </a:pPr>
            <a:r>
              <a:rPr sz="1800" b="1">
                <a:solidFill>
                  <a:srgbClr val="18232D"/>
                </a:solidFill>
                <a:latin typeface="Aptos"/>
                <a:ea typeface="Aptos"/>
                <a:cs typeface="Aptos"/>
              </a:rPr>
              <a:t>of observed AI exposure comes from Computer &amp; Mathematical occupations.</a:t>
            </a:r>
          </a:p>
        </p:txBody>
      </p:sp>
      <p:sp>
        <p:nvSpPr>
          <p:cNvPr id="8" name="concentration-rule">
            <a:extLst xmlns:a="http://schemas.openxmlformats.org/drawingml/2006/main">
              <a:ext uri="{FF2B5EF4-FFF2-40B4-BE49-F238E27FC236}">
                <a16:creationId xmlns:a16="http://schemas.microsoft.com/office/drawing/2014/main" id="{9EAB1ECF-DE13-4EC4-A6BB-FD1F8490DCAA}"/>
              </a:ext>
            </a:extLst>
          </p:cNvPr>
          <p:cNvSpPr>
            <a:spLocks xmlns:a="http://schemas.openxmlformats.org/drawingml/2006/main" noGrp="1"/>
          </p:cNvSpPr>
          <p:nvPr/>
        </p:nvSpPr>
        <p:spPr>
          <a:xfrm xmlns:a="http://schemas.openxmlformats.org/drawingml/2006/main">
            <a:off x="8686800" y="3962400"/>
            <a:ext cx="2714625" cy="0"/>
          </a:xfrm>
          <a:prstGeom xmlns:a="http://schemas.openxmlformats.org/drawingml/2006/main" prst="line">
            <a:avLst/>
          </a:prstGeom>
          <a:noFill xmlns:a="http://schemas.openxmlformats.org/drawingml/2006/main"/>
          <a:ln xmlns:a="http://schemas.openxmlformats.org/drawingml/2006/main" w="19050">
            <a:solidFill>
              <a:srgbClr val="D8D6D0"/>
            </a:solidFill>
            <a:prstDash val="solid"/>
          </a:ln>
        </p:spPr>
      </p:sp>
      <p:sp>
        <p:nvSpPr>
          <p:cNvPr id="9" name="concentration-insight">
            <a:extLst xmlns:a="http://schemas.openxmlformats.org/drawingml/2006/main">
              <a:ext uri="{FF2B5EF4-FFF2-40B4-BE49-F238E27FC236}">
                <a16:creationId xmlns:a16="http://schemas.microsoft.com/office/drawing/2014/main" id="{55573842-D644-4F10-8243-3EAA41E9A4CE}"/>
              </a:ext>
            </a:extLst>
          </p:cNvPr>
          <p:cNvSpPr>
            <a:spLocks xmlns:a="http://schemas.openxmlformats.org/drawingml/2006/main" noGrp="1"/>
          </p:cNvSpPr>
          <p:nvPr/>
        </p:nvSpPr>
        <p:spPr>
          <a:xfrm xmlns:a="http://schemas.openxmlformats.org/drawingml/2006/main">
            <a:off x="8686800" y="4191000"/>
            <a:ext cx="2762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273744"/>
                </a:solidFill>
                <a:latin typeface="Aptos"/>
                <a:ea typeface="Aptos"/>
                <a:cs typeface="Aptos"/>
              </a:defRPr>
            </a:pPr>
            <a:r>
              <a:rPr sz="1650">
                <a:solidFill>
                  <a:srgbClr val="273744"/>
                </a:solidFill>
                <a:latin typeface="Aptos"/>
                <a:ea typeface="Aptos"/>
                <a:cs typeface="Aptos"/>
              </a:rPr>
              <a:t>Concentration continues inside families: a few occupations and tasks account for much of the total.</a:t>
            </a:r>
          </a:p>
        </p:txBody>
      </p:sp>
      <p:sp>
        <p:nvSpPr>
          <p:cNvPr id="10" name="concentration-caveat">
            <a:extLst xmlns:a="http://schemas.openxmlformats.org/drawingml/2006/main">
              <a:ext uri="{FF2B5EF4-FFF2-40B4-BE49-F238E27FC236}">
                <a16:creationId xmlns:a16="http://schemas.microsoft.com/office/drawing/2014/main" id="{8F537FA6-B5A5-4FC1-9F3B-9E39057CA91F}"/>
              </a:ext>
            </a:extLst>
          </p:cNvPr>
          <p:cNvSpPr>
            <a:spLocks xmlns:a="http://schemas.openxmlformats.org/drawingml/2006/main" noGrp="1"/>
          </p:cNvSpPr>
          <p:nvPr/>
        </p:nvSpPr>
        <p:spPr>
          <a:xfrm xmlns:a="http://schemas.openxmlformats.org/drawingml/2006/main">
            <a:off x="8686800" y="5791200"/>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a:solidFill>
                  <a:srgbClr val="65717A"/>
                </a:solidFill>
                <a:latin typeface="Aptos"/>
                <a:ea typeface="Aptos"/>
                <a:cs typeface="Aptos"/>
              </a:defRPr>
            </a:pPr>
            <a:r>
              <a:rPr sz="1275">
                <a:solidFill>
                  <a:srgbClr val="65717A"/>
                </a:solidFill>
                <a:latin typeface="Aptos"/>
                <a:ea typeface="Aptos"/>
                <a:cs typeface="Aptos"/>
              </a:rPr>
              <a:t>Observed AI conversations - not employment share</a:t>
            </a:r>
          </a:p>
        </p:txBody>
      </p:sp>
      <p:sp>
        <p:nvSpPr>
          <p:cNvPr id="11" name="footer-line-4">
            <a:extLst xmlns:a="http://schemas.openxmlformats.org/drawingml/2006/main">
              <a:ext uri="{FF2B5EF4-FFF2-40B4-BE49-F238E27FC236}">
                <a16:creationId xmlns:a16="http://schemas.microsoft.com/office/drawing/2014/main" id="{8BE4DAB0-9581-4AC9-91D0-855BCD37CF33}"/>
              </a:ext>
            </a:extLst>
          </p:cNvPr>
          <p:cNvSpPr>
            <a:spLocks xmlns:a="http://schemas.openxmlformats.org/drawingml/2006/main" noGrp="1"/>
          </p:cNvSpPr>
          <p:nvPr/>
        </p:nvSpPr>
        <p:spPr>
          <a:xfrm xmlns:a="http://schemas.openxmlformats.org/drawingml/2006/main">
            <a:off x="647700" y="6515100"/>
            <a:ext cx="10896600" cy="0"/>
          </a:xfrm>
          <a:prstGeom xmlns:a="http://schemas.openxmlformats.org/drawingml/2006/main" prst="line">
            <a:avLst/>
          </a:prstGeom>
          <a:noFill xmlns:a="http://schemas.openxmlformats.org/drawingml/2006/main"/>
          <a:ln xmlns:a="http://schemas.openxmlformats.org/drawingml/2006/main" w="9525">
            <a:solidFill>
              <a:srgbClr val="D8D6D0"/>
            </a:solidFill>
            <a:prstDash val="solid"/>
          </a:ln>
        </p:spPr>
      </p:sp>
      <p:sp>
        <p:nvSpPr>
          <p:cNvPr id="12" name="footer-label-4">
            <a:extLst xmlns:a="http://schemas.openxmlformats.org/drawingml/2006/main">
              <a:ext uri="{FF2B5EF4-FFF2-40B4-BE49-F238E27FC236}">
                <a16:creationId xmlns:a16="http://schemas.microsoft.com/office/drawing/2014/main" id="{0DFF2214-4089-48C2-8E06-C1EB276B40AE}"/>
              </a:ext>
            </a:extLst>
          </p:cNvPr>
          <p:cNvSpPr>
            <a:spLocks xmlns:a="http://schemas.openxmlformats.org/drawingml/2006/main" noGrp="1"/>
          </p:cNvSpPr>
          <p:nvPr/>
        </p:nvSpPr>
        <p:spPr>
          <a:xfrm xmlns:a="http://schemas.openxmlformats.org/drawingml/2006/main">
            <a:off x="647700" y="6591300"/>
            <a:ext cx="457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65717A"/>
                </a:solidFill>
                <a:latin typeface="Aptos"/>
                <a:ea typeface="Aptos"/>
                <a:cs typeface="Aptos"/>
              </a:defRPr>
            </a:pPr>
            <a:r>
              <a:rPr sz="975" b="1">
                <a:solidFill>
                  <a:srgbClr val="65717A"/>
                </a:solidFill>
                <a:latin typeface="Aptos"/>
                <a:ea typeface="Aptos"/>
                <a:cs typeface="Aptos"/>
              </a:rPr>
              <a:t>AI AT WORK  /  TABLEAU FINAL PROJECT</a:t>
            </a:r>
          </a:p>
        </p:txBody>
      </p:sp>
    </p:spTree>
    <p:extLst>
      <p:ext uri="{BB962C8B-B14F-4D97-AF65-F5344CB8AC3E}">
        <p14:creationId xmlns:p14="http://schemas.microsoft.com/office/powerpoint/2010/main" val="1620199989"/>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5" name="section-5">
            <a:extLst xmlns:a="http://schemas.openxmlformats.org/drawingml/2006/main">
              <a:ext uri="{FF2B5EF4-FFF2-40B4-BE49-F238E27FC236}">
                <a16:creationId xmlns:a16="http://schemas.microsoft.com/office/drawing/2014/main" id="{1C7E83D7-5B7B-46D2-8807-7D6D169CDBBB}"/>
              </a:ext>
            </a:extLst>
          </p:cNvPr>
          <p:cNvSpPr>
            <a:spLocks xmlns:a="http://schemas.openxmlformats.org/drawingml/2006/main" noGrp="1"/>
          </p:cNvSpPr>
          <p:nvPr/>
        </p:nvSpPr>
        <p:spPr>
          <a:xfrm xmlns:a="http://schemas.openxmlformats.org/drawingml/2006/main">
            <a:off x="647700" y="3238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E4575B"/>
                </a:solidFill>
                <a:latin typeface="Aptos"/>
                <a:ea typeface="Aptos"/>
                <a:cs typeface="Aptos"/>
              </a:defRPr>
            </a:pPr>
            <a:r>
              <a:rPr sz="1200" b="1">
                <a:solidFill>
                  <a:srgbClr val="E4575B"/>
                </a:solidFill>
                <a:latin typeface="Aptos"/>
                <a:ea typeface="Aptos"/>
                <a:cs typeface="Aptos"/>
              </a:rPr>
              <a:t>FINDING 2 - WHAT ROLE AI PLAYS</a:t>
            </a:r>
          </a:p>
        </p:txBody>
      </p:sp>
      <p:sp>
        <p:nvSpPr>
          <p:cNvPr id="2" name="page-5">
            <a:extLst xmlns:a="http://schemas.openxmlformats.org/drawingml/2006/main">
              <a:ext uri="{FF2B5EF4-FFF2-40B4-BE49-F238E27FC236}">
                <a16:creationId xmlns:a16="http://schemas.microsoft.com/office/drawing/2014/main" id="{ED5D9E60-4D85-4035-88A6-3108F9D6B2E7}"/>
              </a:ext>
            </a:extLst>
          </p:cNvPr>
          <p:cNvSpPr>
            <a:spLocks xmlns:a="http://schemas.openxmlformats.org/drawingml/2006/main" noGrp="1"/>
          </p:cNvSpPr>
          <p:nvPr/>
        </p:nvSpPr>
        <p:spPr>
          <a:xfrm xmlns:a="http://schemas.openxmlformats.org/drawingml/2006/main">
            <a:off x="11049000" y="3238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5717A"/>
                </a:solidFill>
                <a:latin typeface="Aptos"/>
                <a:ea typeface="Aptos"/>
                <a:cs typeface="Aptos"/>
              </a:defRPr>
            </a:pPr>
            <a:r>
              <a:rPr sz="1200" b="1">
                <a:solidFill>
                  <a:srgbClr val="65717A"/>
                </a:solidFill>
                <a:latin typeface="Aptos"/>
                <a:ea typeface="Aptos"/>
                <a:cs typeface="Aptos"/>
              </a:rPr>
              <a:t>05</a:t>
            </a:r>
          </a:p>
        </p:txBody>
      </p:sp>
      <p:sp>
        <p:nvSpPr>
          <p:cNvPr id="3" name="title-5">
            <a:extLst xmlns:a="http://schemas.openxmlformats.org/drawingml/2006/main">
              <a:ext uri="{FF2B5EF4-FFF2-40B4-BE49-F238E27FC236}">
                <a16:creationId xmlns:a16="http://schemas.microsoft.com/office/drawing/2014/main" id="{42F7915F-0F09-4C68-BA6A-25B2F2265226}"/>
              </a:ext>
            </a:extLst>
          </p:cNvPr>
          <p:cNvSpPr>
            <a:spLocks xmlns:a="http://schemas.openxmlformats.org/drawingml/2006/main" noGrp="1"/>
          </p:cNvSpPr>
          <p:nvPr/>
        </p:nvSpPr>
        <p:spPr>
          <a:xfrm xmlns:a="http://schemas.openxmlformats.org/drawingml/2006/main">
            <a:off x="647700" y="666750"/>
            <a:ext cx="108966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8232D"/>
                </a:solidFill>
                <a:latin typeface="Aptos"/>
                <a:ea typeface="Aptos"/>
                <a:cs typeface="Aptos"/>
              </a:defRPr>
            </a:pPr>
            <a:r>
              <a:rPr sz="3600" b="1">
                <a:solidFill>
                  <a:srgbClr val="18232D"/>
                </a:solidFill>
                <a:latin typeface="Aptos"/>
                <a:ea typeface="Aptos"/>
                <a:cs typeface="Aptos"/>
              </a:rPr>
              <a:t>Across observed AI use, augmentation leads</a:t>
            </a:r>
          </a:p>
          <a:p xmlns:a="http://schemas.openxmlformats.org/drawingml/2006/main">
            <a:pPr algn="l">
              <a:defRPr sz="3600" b="1">
                <a:solidFill>
                  <a:srgbClr val="18232D"/>
                </a:solidFill>
                <a:latin typeface="Aptos"/>
                <a:ea typeface="Aptos"/>
                <a:cs typeface="Aptos"/>
              </a:defRPr>
            </a:pPr>
            <a:r>
              <a:rPr sz="3600" b="1">
                <a:solidFill>
                  <a:srgbClr val="18232D"/>
                </a:solidFill>
                <a:latin typeface="Aptos"/>
                <a:ea typeface="Aptos"/>
                <a:cs typeface="Aptos"/>
              </a:rPr>
              <a:t>automation 57% to 43%.</a:t>
            </a:r>
          </a:p>
        </p:txBody>
      </p:sp>
      <p:sp>
        <p:nvSpPr>
          <p:cNvPr id="4" name="augmentation-stat">
            <a:extLst xmlns:a="http://schemas.openxmlformats.org/drawingml/2006/main">
              <a:ext uri="{FF2B5EF4-FFF2-40B4-BE49-F238E27FC236}">
                <a16:creationId xmlns:a16="http://schemas.microsoft.com/office/drawing/2014/main" id="{B229FFD9-73B4-45EF-BE69-1C3A17338ED9}"/>
              </a:ext>
            </a:extLst>
          </p:cNvPr>
          <p:cNvSpPr>
            <a:spLocks xmlns:a="http://schemas.openxmlformats.org/drawingml/2006/main" noGrp="1"/>
          </p:cNvSpPr>
          <p:nvPr/>
        </p:nvSpPr>
        <p:spPr>
          <a:xfrm xmlns:a="http://schemas.openxmlformats.org/drawingml/2006/main">
            <a:off x="685800" y="1924050"/>
            <a:ext cx="285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E4575B"/>
                </a:solidFill>
                <a:latin typeface="Aptos"/>
                <a:ea typeface="Aptos"/>
                <a:cs typeface="Aptos"/>
              </a:defRPr>
            </a:pPr>
            <a:r>
              <a:rPr sz="4650" b="1">
                <a:solidFill>
                  <a:srgbClr val="E4575B"/>
                </a:solidFill>
                <a:latin typeface="Aptos"/>
                <a:ea typeface="Aptos"/>
                <a:cs typeface="Aptos"/>
              </a:rPr>
              <a:t>57%</a:t>
            </a:r>
          </a:p>
        </p:txBody>
      </p:sp>
      <p:sp>
        <p:nvSpPr>
          <p:cNvPr id="5" name="augmentation-stat-label">
            <a:extLst xmlns:a="http://schemas.openxmlformats.org/drawingml/2006/main">
              <a:ext uri="{FF2B5EF4-FFF2-40B4-BE49-F238E27FC236}">
                <a16:creationId xmlns:a16="http://schemas.microsoft.com/office/drawing/2014/main" id="{3FCA045D-F7FD-41E8-94FF-5C199458085C}"/>
              </a:ext>
            </a:extLst>
          </p:cNvPr>
          <p:cNvSpPr>
            <a:spLocks xmlns:a="http://schemas.openxmlformats.org/drawingml/2006/main" noGrp="1"/>
          </p:cNvSpPr>
          <p:nvPr/>
        </p:nvSpPr>
        <p:spPr>
          <a:xfrm xmlns:a="http://schemas.openxmlformats.org/drawingml/2006/main">
            <a:off x="704850" y="2647950"/>
            <a:ext cx="361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32D"/>
                </a:solidFill>
                <a:latin typeface="Aptos"/>
                <a:ea typeface="Aptos"/>
                <a:cs typeface="Aptos"/>
              </a:defRPr>
            </a:pPr>
            <a:r>
              <a:rPr sz="2400" b="1">
                <a:solidFill>
                  <a:srgbClr val="18232D"/>
                </a:solidFill>
                <a:latin typeface="Aptos"/>
                <a:ea typeface="Aptos"/>
                <a:cs typeface="Aptos"/>
              </a:rPr>
              <a:t>augmentation / copilot</a:t>
            </a:r>
          </a:p>
        </p:txBody>
      </p:sp>
      <p:sp>
        <p:nvSpPr>
          <p:cNvPr id="6" name="automation-stat">
            <a:extLst xmlns:a="http://schemas.openxmlformats.org/drawingml/2006/main">
              <a:ext uri="{FF2B5EF4-FFF2-40B4-BE49-F238E27FC236}">
                <a16:creationId xmlns:a16="http://schemas.microsoft.com/office/drawing/2014/main" id="{7ECA9F81-BF4A-44EA-8866-CCE5B05D89EC}"/>
              </a:ext>
            </a:extLst>
          </p:cNvPr>
          <p:cNvSpPr>
            <a:spLocks xmlns:a="http://schemas.openxmlformats.org/drawingml/2006/main" noGrp="1"/>
          </p:cNvSpPr>
          <p:nvPr/>
        </p:nvSpPr>
        <p:spPr>
          <a:xfrm xmlns:a="http://schemas.openxmlformats.org/drawingml/2006/main">
            <a:off x="685800" y="3295650"/>
            <a:ext cx="285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397F7A"/>
                </a:solidFill>
                <a:latin typeface="Aptos"/>
                <a:ea typeface="Aptos"/>
                <a:cs typeface="Aptos"/>
              </a:defRPr>
            </a:pPr>
            <a:r>
              <a:rPr sz="4650" b="1">
                <a:solidFill>
                  <a:srgbClr val="397F7A"/>
                </a:solidFill>
                <a:latin typeface="Aptos"/>
                <a:ea typeface="Aptos"/>
                <a:cs typeface="Aptos"/>
              </a:rPr>
              <a:t>43%</a:t>
            </a:r>
          </a:p>
        </p:txBody>
      </p:sp>
      <p:sp>
        <p:nvSpPr>
          <p:cNvPr id="7" name="automation-stat-label">
            <a:extLst xmlns:a="http://schemas.openxmlformats.org/drawingml/2006/main">
              <a:ext uri="{FF2B5EF4-FFF2-40B4-BE49-F238E27FC236}">
                <a16:creationId xmlns:a16="http://schemas.microsoft.com/office/drawing/2014/main" id="{A8A3FF82-9B89-497C-B85D-8097624C6BBC}"/>
              </a:ext>
            </a:extLst>
          </p:cNvPr>
          <p:cNvSpPr>
            <a:spLocks xmlns:a="http://schemas.openxmlformats.org/drawingml/2006/main" noGrp="1"/>
          </p:cNvSpPr>
          <p:nvPr/>
        </p:nvSpPr>
        <p:spPr>
          <a:xfrm xmlns:a="http://schemas.openxmlformats.org/drawingml/2006/main">
            <a:off x="704850" y="4019550"/>
            <a:ext cx="361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32D"/>
                </a:solidFill>
                <a:latin typeface="Aptos"/>
                <a:ea typeface="Aptos"/>
                <a:cs typeface="Aptos"/>
              </a:defRPr>
            </a:pPr>
            <a:r>
              <a:rPr sz="2400" b="1">
                <a:solidFill>
                  <a:srgbClr val="18232D"/>
                </a:solidFill>
                <a:latin typeface="Aptos"/>
                <a:ea typeface="Aptos"/>
                <a:cs typeface="Aptos"/>
              </a:rPr>
              <a:t>automation / executor</a:t>
            </a:r>
          </a:p>
        </p:txBody>
      </p:sp>
      <p:sp>
        <p:nvSpPr>
          <p:cNvPr id="8" name="role-stat-rule">
            <a:extLst xmlns:a="http://schemas.openxmlformats.org/drawingml/2006/main">
              <a:ext uri="{FF2B5EF4-FFF2-40B4-BE49-F238E27FC236}">
                <a16:creationId xmlns:a16="http://schemas.microsoft.com/office/drawing/2014/main" id="{9071E14B-3FE2-4BD2-9C7F-B1125A87773B}"/>
              </a:ext>
            </a:extLst>
          </p:cNvPr>
          <p:cNvSpPr>
            <a:spLocks xmlns:a="http://schemas.openxmlformats.org/drawingml/2006/main" noGrp="1"/>
          </p:cNvSpPr>
          <p:nvPr/>
        </p:nvSpPr>
        <p:spPr>
          <a:xfrm xmlns:a="http://schemas.openxmlformats.org/drawingml/2006/main">
            <a:off x="704850" y="4629150"/>
            <a:ext cx="3524250" cy="0"/>
          </a:xfrm>
          <a:prstGeom xmlns:a="http://schemas.openxmlformats.org/drawingml/2006/main" prst="line">
            <a:avLst/>
          </a:prstGeom>
          <a:noFill xmlns:a="http://schemas.openxmlformats.org/drawingml/2006/main"/>
          <a:ln xmlns:a="http://schemas.openxmlformats.org/drawingml/2006/main" w="19050">
            <a:solidFill>
              <a:srgbClr val="D8D6D0"/>
            </a:solidFill>
            <a:prstDash val="solid"/>
          </a:ln>
        </p:spPr>
      </p:sp>
      <p:sp>
        <p:nvSpPr>
          <p:cNvPr id="9" name="interaction-mode-callout">
            <a:extLst xmlns:a="http://schemas.openxmlformats.org/drawingml/2006/main">
              <a:ext uri="{FF2B5EF4-FFF2-40B4-BE49-F238E27FC236}">
                <a16:creationId xmlns:a16="http://schemas.microsoft.com/office/drawing/2014/main" id="{F68F74FB-EB10-4CB9-8091-838BA38E77FB}"/>
              </a:ext>
            </a:extLst>
          </p:cNvPr>
          <p:cNvSpPr>
            <a:spLocks xmlns:a="http://schemas.openxmlformats.org/drawingml/2006/main" noGrp="1"/>
          </p:cNvSpPr>
          <p:nvPr/>
        </p:nvSpPr>
        <p:spPr>
          <a:xfrm xmlns:a="http://schemas.openxmlformats.org/drawingml/2006/main">
            <a:off x="704850" y="4857750"/>
            <a:ext cx="3619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273744"/>
                </a:solidFill>
                <a:latin typeface="Aptos"/>
                <a:ea typeface="Aptos"/>
                <a:cs typeface="Aptos"/>
              </a:defRPr>
            </a:pPr>
            <a:r>
              <a:rPr sz="1650">
                <a:solidFill>
                  <a:srgbClr val="273744"/>
                </a:solidFill>
                <a:latin typeface="Aptos"/>
                <a:ea typeface="Aptos"/>
                <a:cs typeface="Aptos"/>
              </a:rPr>
              <a:t>Directive is the largest single mode (30.5%), while learning + iteration contribute 53.3% together.</a:t>
            </a:r>
          </a:p>
        </p:txBody>
      </p:sp>
      <p:sp>
        <p:nvSpPr>
          <p:cNvPr id="10" name="overall-role-dashboard-backing">
            <a:extLst xmlns:a="http://schemas.openxmlformats.org/drawingml/2006/main">
              <a:ext uri="{FF2B5EF4-FFF2-40B4-BE49-F238E27FC236}">
                <a16:creationId xmlns:a16="http://schemas.microsoft.com/office/drawing/2014/main" id="{FFDC3DF9-A9DE-4B2A-ADD1-BB27A1C351E1}"/>
              </a:ext>
            </a:extLst>
          </p:cNvPr>
          <p:cNvSpPr>
            <a:spLocks xmlns:a="http://schemas.openxmlformats.org/drawingml/2006/main" noGrp="1"/>
          </p:cNvSpPr>
          <p:nvPr/>
        </p:nvSpPr>
        <p:spPr>
          <a:xfrm xmlns:a="http://schemas.openxmlformats.org/drawingml/2006/main">
            <a:off x="4705350" y="1733550"/>
            <a:ext cx="6877050" cy="4114800"/>
          </a:xfrm>
          <a:prstGeom xmlns:a="http://schemas.openxmlformats.org/drawingml/2006/main" prst="roundRect">
            <a:avLst>
              <a:gd name="adj" fmla="val 2315"/>
            </a:avLst>
          </a:prstGeom>
          <a:solidFill xmlns:a="http://schemas.openxmlformats.org/drawingml/2006/main">
            <a:srgbClr val="FFFFFF"/>
          </a:solidFill>
          <a:ln xmlns:a="http://schemas.openxmlformats.org/drawingml/2006/main" w="9525">
            <a:solidFill>
              <a:srgbClr val="CBCBC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25d27e48b2ff4ed1"/>
          <a:stretch xmlns:a="http://schemas.openxmlformats.org/drawingml/2006/main"/>
        </p:blipFill>
        <p:spPr>
          <a:xfrm xmlns:a="http://schemas.openxmlformats.org/drawingml/2006/main">
            <a:off x="4774940" y="1790700"/>
            <a:ext cx="6737869" cy="4000500"/>
          </a:xfrm>
          <a:prstGeom xmlns:a="http://schemas.openxmlformats.org/drawingml/2006/main" prst="roundRect">
            <a:avLst>
              <a:gd name="adj" fmla="val 1905"/>
            </a:avLst>
          </a:prstGeom>
        </p:spPr>
      </p:pic>
      <p:sp>
        <p:nvSpPr>
          <p:cNvPr id="12" name="overall-role-takeaway">
            <a:extLst xmlns:a="http://schemas.openxmlformats.org/drawingml/2006/main">
              <a:ext uri="{FF2B5EF4-FFF2-40B4-BE49-F238E27FC236}">
                <a16:creationId xmlns:a16="http://schemas.microsoft.com/office/drawing/2014/main" id="{ACD9BBFC-C95A-495F-8E8C-552CF0107527}"/>
              </a:ext>
            </a:extLst>
          </p:cNvPr>
          <p:cNvSpPr>
            <a:spLocks xmlns:a="http://schemas.openxmlformats.org/drawingml/2006/main" noGrp="1"/>
          </p:cNvSpPr>
          <p:nvPr/>
        </p:nvSpPr>
        <p:spPr>
          <a:xfrm xmlns:a="http://schemas.openxmlformats.org/drawingml/2006/main">
            <a:off x="4762500" y="5905500"/>
            <a:ext cx="676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8232D"/>
                </a:solidFill>
                <a:latin typeface="Aptos"/>
                <a:ea typeface="Aptos"/>
                <a:cs typeface="Aptos"/>
              </a:defRPr>
            </a:pPr>
            <a:r>
              <a:rPr sz="1650" b="1">
                <a:solidFill>
                  <a:srgbClr val="18232D"/>
                </a:solidFill>
                <a:latin typeface="Aptos"/>
                <a:ea typeface="Aptos"/>
                <a:cs typeface="Aptos"/>
              </a:rPr>
              <a:t>AI behaves more like a copilot overall, even though direct execution remains the largest single interaction mode.</a:t>
            </a:r>
          </a:p>
        </p:txBody>
      </p:sp>
      <p:sp>
        <p:nvSpPr>
          <p:cNvPr id="13" name="footer-line-5">
            <a:extLst xmlns:a="http://schemas.openxmlformats.org/drawingml/2006/main">
              <a:ext uri="{FF2B5EF4-FFF2-40B4-BE49-F238E27FC236}">
                <a16:creationId xmlns:a16="http://schemas.microsoft.com/office/drawing/2014/main" id="{8F466226-E544-4909-99B8-0FD5343A3F8E}"/>
              </a:ext>
            </a:extLst>
          </p:cNvPr>
          <p:cNvSpPr>
            <a:spLocks xmlns:a="http://schemas.openxmlformats.org/drawingml/2006/main" noGrp="1"/>
          </p:cNvSpPr>
          <p:nvPr/>
        </p:nvSpPr>
        <p:spPr>
          <a:xfrm xmlns:a="http://schemas.openxmlformats.org/drawingml/2006/main">
            <a:off x="647700" y="6515100"/>
            <a:ext cx="10896600" cy="0"/>
          </a:xfrm>
          <a:prstGeom xmlns:a="http://schemas.openxmlformats.org/drawingml/2006/main" prst="line">
            <a:avLst/>
          </a:prstGeom>
          <a:noFill xmlns:a="http://schemas.openxmlformats.org/drawingml/2006/main"/>
          <a:ln xmlns:a="http://schemas.openxmlformats.org/drawingml/2006/main" w="9525">
            <a:solidFill>
              <a:srgbClr val="D8D6D0"/>
            </a:solidFill>
            <a:prstDash val="solid"/>
          </a:ln>
        </p:spPr>
      </p:sp>
      <p:sp>
        <p:nvSpPr>
          <p:cNvPr id="14" name="footer-label-5">
            <a:extLst xmlns:a="http://schemas.openxmlformats.org/drawingml/2006/main">
              <a:ext uri="{FF2B5EF4-FFF2-40B4-BE49-F238E27FC236}">
                <a16:creationId xmlns:a16="http://schemas.microsoft.com/office/drawing/2014/main" id="{9BAD0B58-6132-4F53-A5CA-E982F8DA49A1}"/>
              </a:ext>
            </a:extLst>
          </p:cNvPr>
          <p:cNvSpPr>
            <a:spLocks xmlns:a="http://schemas.openxmlformats.org/drawingml/2006/main" noGrp="1"/>
          </p:cNvSpPr>
          <p:nvPr/>
        </p:nvSpPr>
        <p:spPr>
          <a:xfrm xmlns:a="http://schemas.openxmlformats.org/drawingml/2006/main">
            <a:off x="647700" y="6591300"/>
            <a:ext cx="457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65717A"/>
                </a:solidFill>
                <a:latin typeface="Aptos"/>
                <a:ea typeface="Aptos"/>
                <a:cs typeface="Aptos"/>
              </a:defRPr>
            </a:pPr>
            <a:r>
              <a:rPr sz="975" b="1">
                <a:solidFill>
                  <a:srgbClr val="65717A"/>
                </a:solidFill>
                <a:latin typeface="Aptos"/>
                <a:ea typeface="Aptos"/>
                <a:cs typeface="Aptos"/>
              </a:rPr>
              <a:t>AI AT WORK  /  TABLEAU FINAL PROJECT</a:t>
            </a:r>
          </a:p>
        </p:txBody>
      </p:sp>
    </p:spTree>
    <p:extLst>
      <p:ext uri="{BB962C8B-B14F-4D97-AF65-F5344CB8AC3E}">
        <p14:creationId xmlns:p14="http://schemas.microsoft.com/office/powerpoint/2010/main" val="1350942423"/>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9" name="section-6">
            <a:extLst xmlns:a="http://schemas.openxmlformats.org/drawingml/2006/main">
              <a:ext uri="{FF2B5EF4-FFF2-40B4-BE49-F238E27FC236}">
                <a16:creationId xmlns:a16="http://schemas.microsoft.com/office/drawing/2014/main" id="{E7B16B4D-44A3-4CA5-A8CB-A34FF396F8AA}"/>
              </a:ext>
            </a:extLst>
          </p:cNvPr>
          <p:cNvSpPr>
            <a:spLocks xmlns:a="http://schemas.openxmlformats.org/drawingml/2006/main" noGrp="1"/>
          </p:cNvSpPr>
          <p:nvPr/>
        </p:nvSpPr>
        <p:spPr>
          <a:xfrm xmlns:a="http://schemas.openxmlformats.org/drawingml/2006/main">
            <a:off x="647700" y="3238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5B86AE"/>
                </a:solidFill>
                <a:latin typeface="Aptos"/>
                <a:ea typeface="Aptos"/>
                <a:cs typeface="Aptos"/>
              </a:defRPr>
            </a:pPr>
            <a:r>
              <a:rPr sz="1200" b="1">
                <a:solidFill>
                  <a:srgbClr val="5B86AE"/>
                </a:solidFill>
                <a:latin typeface="Aptos"/>
                <a:ea typeface="Aptos"/>
                <a:cs typeface="Aptos"/>
              </a:rPr>
              <a:t>FINDING 3 - OPEN THE JOB BLACK BOX</a:t>
            </a:r>
          </a:p>
        </p:txBody>
      </p:sp>
      <p:sp>
        <p:nvSpPr>
          <p:cNvPr id="2" name="page-6">
            <a:extLst xmlns:a="http://schemas.openxmlformats.org/drawingml/2006/main">
              <a:ext uri="{FF2B5EF4-FFF2-40B4-BE49-F238E27FC236}">
                <a16:creationId xmlns:a16="http://schemas.microsoft.com/office/drawing/2014/main" id="{8912DDF5-8340-4EBE-B5DB-DA11FFC6EDDE}"/>
              </a:ext>
            </a:extLst>
          </p:cNvPr>
          <p:cNvSpPr>
            <a:spLocks xmlns:a="http://schemas.openxmlformats.org/drawingml/2006/main" noGrp="1"/>
          </p:cNvSpPr>
          <p:nvPr/>
        </p:nvSpPr>
        <p:spPr>
          <a:xfrm xmlns:a="http://schemas.openxmlformats.org/drawingml/2006/main">
            <a:off x="11049000" y="3238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5717A"/>
                </a:solidFill>
                <a:latin typeface="Aptos"/>
                <a:ea typeface="Aptos"/>
                <a:cs typeface="Aptos"/>
              </a:defRPr>
            </a:pPr>
            <a:r>
              <a:rPr sz="1200" b="1">
                <a:solidFill>
                  <a:srgbClr val="65717A"/>
                </a:solidFill>
                <a:latin typeface="Aptos"/>
                <a:ea typeface="Aptos"/>
                <a:cs typeface="Aptos"/>
              </a:rPr>
              <a:t>06</a:t>
            </a:r>
          </a:p>
        </p:txBody>
      </p:sp>
      <p:sp>
        <p:nvSpPr>
          <p:cNvPr id="3" name="title-6">
            <a:extLst xmlns:a="http://schemas.openxmlformats.org/drawingml/2006/main">
              <a:ext uri="{FF2B5EF4-FFF2-40B4-BE49-F238E27FC236}">
                <a16:creationId xmlns:a16="http://schemas.microsoft.com/office/drawing/2014/main" id="{3775D2FE-AB56-49BD-9674-1797A4558723}"/>
              </a:ext>
            </a:extLst>
          </p:cNvPr>
          <p:cNvSpPr>
            <a:spLocks xmlns:a="http://schemas.openxmlformats.org/drawingml/2006/main" noGrp="1"/>
          </p:cNvSpPr>
          <p:nvPr/>
        </p:nvSpPr>
        <p:spPr>
          <a:xfrm xmlns:a="http://schemas.openxmlformats.org/drawingml/2006/main">
            <a:off x="647700" y="666750"/>
            <a:ext cx="108966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8232D"/>
                </a:solidFill>
                <a:latin typeface="Aptos"/>
                <a:ea typeface="Aptos"/>
                <a:cs typeface="Aptos"/>
              </a:defRPr>
            </a:pPr>
            <a:r>
              <a:rPr sz="3600" b="1">
                <a:solidFill>
                  <a:srgbClr val="18232D"/>
                </a:solidFill>
                <a:latin typeface="Aptos"/>
                <a:ea typeface="Aptos"/>
                <a:cs typeface="Aptos"/>
              </a:rPr>
              <a:t>Task-level variation breaks the idea of one AI role</a:t>
            </a:r>
          </a:p>
          <a:p xmlns:a="http://schemas.openxmlformats.org/drawingml/2006/main">
            <a:pPr algn="l">
              <a:defRPr sz="3600" b="1">
                <a:solidFill>
                  <a:srgbClr val="18232D"/>
                </a:solidFill>
                <a:latin typeface="Aptos"/>
                <a:ea typeface="Aptos"/>
                <a:cs typeface="Aptos"/>
              </a:defRPr>
            </a:pPr>
            <a:r>
              <a:rPr sz="3600" b="1">
                <a:solidFill>
                  <a:srgbClr val="18232D"/>
                </a:solidFill>
                <a:latin typeface="Aptos"/>
                <a:ea typeface="Aptos"/>
                <a:cs typeface="Aptos"/>
              </a:rPr>
              <a:t>per job family.</a:t>
            </a:r>
          </a:p>
        </p:txBody>
      </p:sp>
      <p:sp>
        <p:nvSpPr>
          <p:cNvPr id="4" name="task-variation-dashboard-backing">
            <a:extLst xmlns:a="http://schemas.openxmlformats.org/drawingml/2006/main">
              <a:ext uri="{FF2B5EF4-FFF2-40B4-BE49-F238E27FC236}">
                <a16:creationId xmlns:a16="http://schemas.microsoft.com/office/drawing/2014/main" id="{7EE5CA8B-5C8A-41F5-AC09-2004770E2407}"/>
              </a:ext>
            </a:extLst>
          </p:cNvPr>
          <p:cNvSpPr>
            <a:spLocks xmlns:a="http://schemas.openxmlformats.org/drawingml/2006/main" noGrp="1"/>
          </p:cNvSpPr>
          <p:nvPr/>
        </p:nvSpPr>
        <p:spPr>
          <a:xfrm xmlns:a="http://schemas.openxmlformats.org/drawingml/2006/main">
            <a:off x="533400" y="1695450"/>
            <a:ext cx="7924800" cy="4657725"/>
          </a:xfrm>
          <a:prstGeom xmlns:a="http://schemas.openxmlformats.org/drawingml/2006/main" prst="roundRect">
            <a:avLst>
              <a:gd name="adj" fmla="val 2045"/>
            </a:avLst>
          </a:prstGeom>
          <a:solidFill xmlns:a="http://schemas.openxmlformats.org/drawingml/2006/main">
            <a:srgbClr val="FFFFFF"/>
          </a:solidFill>
          <a:ln xmlns:a="http://schemas.openxmlformats.org/drawingml/2006/main" w="9525">
            <a:solidFill>
              <a:srgbClr val="CBCBC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8aebb281b7c941fc"/>
          <a:stretch xmlns:a="http://schemas.openxmlformats.org/drawingml/2006/main"/>
        </p:blipFill>
        <p:spPr>
          <a:xfrm xmlns:a="http://schemas.openxmlformats.org/drawingml/2006/main">
            <a:off x="590550" y="1813717"/>
            <a:ext cx="7810500" cy="4421192"/>
          </a:xfrm>
          <a:prstGeom xmlns:a="http://schemas.openxmlformats.org/drawingml/2006/main" prst="roundRect">
            <a:avLst>
              <a:gd name="adj" fmla="val 1677"/>
            </a:avLst>
          </a:prstGeom>
        </p:spPr>
      </p:pic>
      <p:sp>
        <p:nvSpPr>
          <p:cNvPr id="6" name="selected-family-label">
            <a:extLst xmlns:a="http://schemas.openxmlformats.org/drawingml/2006/main">
              <a:ext uri="{FF2B5EF4-FFF2-40B4-BE49-F238E27FC236}">
                <a16:creationId xmlns:a16="http://schemas.microsoft.com/office/drawing/2014/main" id="{4A53E9FF-5C63-41F9-801F-85E0119DFBA4}"/>
              </a:ext>
            </a:extLst>
          </p:cNvPr>
          <p:cNvSpPr>
            <a:spLocks xmlns:a="http://schemas.openxmlformats.org/drawingml/2006/main" noGrp="1"/>
          </p:cNvSpPr>
          <p:nvPr/>
        </p:nvSpPr>
        <p:spPr>
          <a:xfrm xmlns:a="http://schemas.openxmlformats.org/drawingml/2006/main">
            <a:off x="8763000" y="1924050"/>
            <a:ext cx="2714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5B86AE"/>
                </a:solidFill>
                <a:latin typeface="Aptos"/>
                <a:ea typeface="Aptos"/>
                <a:cs typeface="Aptos"/>
              </a:defRPr>
            </a:pPr>
            <a:r>
              <a:rPr sz="1275" b="1">
                <a:solidFill>
                  <a:srgbClr val="5B86AE"/>
                </a:solidFill>
                <a:latin typeface="Aptos"/>
                <a:ea typeface="Aptos"/>
                <a:cs typeface="Aptos"/>
              </a:rPr>
              <a:t>ARCHITECTURE &amp; ENGINEERING</a:t>
            </a:r>
          </a:p>
        </p:txBody>
      </p:sp>
      <p:sp>
        <p:nvSpPr>
          <p:cNvPr id="7" name="bullet-accent-6a">
            <a:extLst xmlns:a="http://schemas.openxmlformats.org/drawingml/2006/main">
              <a:ext uri="{FF2B5EF4-FFF2-40B4-BE49-F238E27FC236}">
                <a16:creationId xmlns:a16="http://schemas.microsoft.com/office/drawing/2014/main" id="{649494C0-D51C-49BF-B779-6EB27BE1C37A}"/>
              </a:ext>
            </a:extLst>
          </p:cNvPr>
          <p:cNvSpPr>
            <a:spLocks xmlns:a="http://schemas.openxmlformats.org/drawingml/2006/main" noGrp="1"/>
          </p:cNvSpPr>
          <p:nvPr/>
        </p:nvSpPr>
        <p:spPr>
          <a:xfrm xmlns:a="http://schemas.openxmlformats.org/drawingml/2006/main">
            <a:off x="8743950" y="2419350"/>
            <a:ext cx="47625" cy="857250"/>
          </a:xfrm>
          <a:prstGeom xmlns:a="http://schemas.openxmlformats.org/drawingml/2006/main" prst="rect">
            <a:avLst/>
          </a:prstGeom>
          <a:solidFill xmlns:a="http://schemas.openxmlformats.org/drawingml/2006/main">
            <a:srgbClr val="5B86AE"/>
          </a:solidFill>
          <a:ln xmlns:a="http://schemas.openxmlformats.org/drawingml/2006/main" w="0">
            <a:noFill/>
            <a:prstDash val="solid"/>
          </a:ln>
        </p:spPr>
      </p:sp>
      <p:sp>
        <p:nvSpPr>
          <p:cNvPr id="8" name="bullet-heading-6a">
            <a:extLst xmlns:a="http://schemas.openxmlformats.org/drawingml/2006/main">
              <a:ext uri="{FF2B5EF4-FFF2-40B4-BE49-F238E27FC236}">
                <a16:creationId xmlns:a16="http://schemas.microsoft.com/office/drawing/2014/main" id="{E9A7A286-C7E3-46A8-B58D-82764A35C591}"/>
              </a:ext>
            </a:extLst>
          </p:cNvPr>
          <p:cNvSpPr>
            <a:spLocks xmlns:a="http://schemas.openxmlformats.org/drawingml/2006/main" noGrp="1"/>
          </p:cNvSpPr>
          <p:nvPr/>
        </p:nvSpPr>
        <p:spPr>
          <a:xfrm xmlns:a="http://schemas.openxmlformats.org/drawingml/2006/main">
            <a:off x="8953500" y="2381250"/>
            <a:ext cx="2552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32D"/>
                </a:solidFill>
                <a:latin typeface="Aptos"/>
                <a:ea typeface="Aptos"/>
                <a:cs typeface="Aptos"/>
              </a:defRPr>
            </a:pPr>
            <a:r>
              <a:rPr sz="2400" b="1">
                <a:solidFill>
                  <a:srgbClr val="18232D"/>
                </a:solidFill>
                <a:latin typeface="Aptos"/>
                <a:ea typeface="Aptos"/>
                <a:cs typeface="Aptos"/>
              </a:rPr>
              <a:t>Mostly copilot</a:t>
            </a:r>
          </a:p>
        </p:txBody>
      </p:sp>
      <p:sp>
        <p:nvSpPr>
          <p:cNvPr id="9" name="bullet-body-6a">
            <a:extLst xmlns:a="http://schemas.openxmlformats.org/drawingml/2006/main">
              <a:ext uri="{FF2B5EF4-FFF2-40B4-BE49-F238E27FC236}">
                <a16:creationId xmlns:a16="http://schemas.microsoft.com/office/drawing/2014/main" id="{D761C984-20DF-4E98-9DA1-761C0075DA13}"/>
              </a:ext>
            </a:extLst>
          </p:cNvPr>
          <p:cNvSpPr>
            <a:spLocks xmlns:a="http://schemas.openxmlformats.org/drawingml/2006/main" noGrp="1"/>
          </p:cNvSpPr>
          <p:nvPr/>
        </p:nvSpPr>
        <p:spPr>
          <a:xfrm xmlns:a="http://schemas.openxmlformats.org/drawingml/2006/main">
            <a:off x="8953500" y="2800350"/>
            <a:ext cx="2552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65717A"/>
                </a:solidFill>
                <a:latin typeface="Aptos"/>
                <a:ea typeface="Aptos"/>
                <a:cs typeface="Aptos"/>
              </a:defRPr>
            </a:pPr>
            <a:r>
              <a:rPr sz="1650">
                <a:solidFill>
                  <a:srgbClr val="65717A"/>
                </a:solidFill>
                <a:latin typeface="Aptos"/>
                <a:ea typeface="Aptos"/>
                <a:cs typeface="Aptos"/>
              </a:rPr>
              <a:t>Most displayed tasks sit to the right of the zero line.</a:t>
            </a:r>
          </a:p>
        </p:txBody>
      </p:sp>
      <p:sp>
        <p:nvSpPr>
          <p:cNvPr id="10" name="bullet-accent-6b">
            <a:extLst xmlns:a="http://schemas.openxmlformats.org/drawingml/2006/main">
              <a:ext uri="{FF2B5EF4-FFF2-40B4-BE49-F238E27FC236}">
                <a16:creationId xmlns:a16="http://schemas.microsoft.com/office/drawing/2014/main" id="{2D325957-494F-4F29-916C-9907AC062275}"/>
              </a:ext>
            </a:extLst>
          </p:cNvPr>
          <p:cNvSpPr>
            <a:spLocks xmlns:a="http://schemas.openxmlformats.org/drawingml/2006/main" noGrp="1"/>
          </p:cNvSpPr>
          <p:nvPr/>
        </p:nvSpPr>
        <p:spPr>
          <a:xfrm xmlns:a="http://schemas.openxmlformats.org/drawingml/2006/main">
            <a:off x="8743950" y="3543300"/>
            <a:ext cx="47625" cy="857250"/>
          </a:xfrm>
          <a:prstGeom xmlns:a="http://schemas.openxmlformats.org/drawingml/2006/main" prst="rect">
            <a:avLst/>
          </a:prstGeom>
          <a:solidFill xmlns:a="http://schemas.openxmlformats.org/drawingml/2006/main">
            <a:srgbClr val="F39A43"/>
          </a:solidFill>
          <a:ln xmlns:a="http://schemas.openxmlformats.org/drawingml/2006/main" w="0">
            <a:noFill/>
            <a:prstDash val="solid"/>
          </a:ln>
        </p:spPr>
      </p:sp>
      <p:sp>
        <p:nvSpPr>
          <p:cNvPr id="11" name="bullet-heading-6b">
            <a:extLst xmlns:a="http://schemas.openxmlformats.org/drawingml/2006/main">
              <a:ext uri="{FF2B5EF4-FFF2-40B4-BE49-F238E27FC236}">
                <a16:creationId xmlns:a16="http://schemas.microsoft.com/office/drawing/2014/main" id="{9C9CA0EE-0B3C-48DA-9783-1E4FC3BD5088}"/>
              </a:ext>
            </a:extLst>
          </p:cNvPr>
          <p:cNvSpPr>
            <a:spLocks xmlns:a="http://schemas.openxmlformats.org/drawingml/2006/main" noGrp="1"/>
          </p:cNvSpPr>
          <p:nvPr/>
        </p:nvSpPr>
        <p:spPr>
          <a:xfrm xmlns:a="http://schemas.openxmlformats.org/drawingml/2006/main">
            <a:off x="8953500" y="3505200"/>
            <a:ext cx="2552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32D"/>
                </a:solidFill>
                <a:latin typeface="Aptos"/>
                <a:ea typeface="Aptos"/>
                <a:cs typeface="Aptos"/>
              </a:defRPr>
            </a:pPr>
            <a:r>
              <a:rPr sz="2400" b="1">
                <a:solidFill>
                  <a:srgbClr val="18232D"/>
                </a:solidFill>
                <a:latin typeface="Aptos"/>
                <a:ea typeface="Aptos"/>
                <a:cs typeface="Aptos"/>
              </a:rPr>
              <a:t>Not uniform</a:t>
            </a:r>
          </a:p>
        </p:txBody>
      </p:sp>
      <p:sp>
        <p:nvSpPr>
          <p:cNvPr id="12" name="bullet-body-6b">
            <a:extLst xmlns:a="http://schemas.openxmlformats.org/drawingml/2006/main">
              <a:ext uri="{FF2B5EF4-FFF2-40B4-BE49-F238E27FC236}">
                <a16:creationId xmlns:a16="http://schemas.microsoft.com/office/drawing/2014/main" id="{E47B2AB3-0AD5-4971-948D-99AAB912B2EC}"/>
              </a:ext>
            </a:extLst>
          </p:cNvPr>
          <p:cNvSpPr>
            <a:spLocks xmlns:a="http://schemas.openxmlformats.org/drawingml/2006/main" noGrp="1"/>
          </p:cNvSpPr>
          <p:nvPr/>
        </p:nvSpPr>
        <p:spPr>
          <a:xfrm xmlns:a="http://schemas.openxmlformats.org/drawingml/2006/main">
            <a:off x="8953500" y="3924300"/>
            <a:ext cx="2552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65717A"/>
                </a:solidFill>
                <a:latin typeface="Aptos"/>
                <a:ea typeface="Aptos"/>
                <a:cs typeface="Aptos"/>
              </a:defRPr>
            </a:pPr>
            <a:r>
              <a:rPr sz="1650">
                <a:solidFill>
                  <a:srgbClr val="65717A"/>
                </a:solidFill>
                <a:latin typeface="Aptos"/>
                <a:ea typeface="Aptos"/>
                <a:cs typeface="Aptos"/>
              </a:rPr>
              <a:t>One Core task falls on the automation side.</a:t>
            </a:r>
          </a:p>
        </p:txBody>
      </p:sp>
      <p:sp>
        <p:nvSpPr>
          <p:cNvPr id="13" name="bullet-accent-6c">
            <a:extLst xmlns:a="http://schemas.openxmlformats.org/drawingml/2006/main">
              <a:ext uri="{FF2B5EF4-FFF2-40B4-BE49-F238E27FC236}">
                <a16:creationId xmlns:a16="http://schemas.microsoft.com/office/drawing/2014/main" id="{59D18B7C-D42E-4848-B6EE-16034A7836CD}"/>
              </a:ext>
            </a:extLst>
          </p:cNvPr>
          <p:cNvSpPr>
            <a:spLocks xmlns:a="http://schemas.openxmlformats.org/drawingml/2006/main" noGrp="1"/>
          </p:cNvSpPr>
          <p:nvPr/>
        </p:nvSpPr>
        <p:spPr>
          <a:xfrm xmlns:a="http://schemas.openxmlformats.org/drawingml/2006/main">
            <a:off x="8743950" y="4667250"/>
            <a:ext cx="47625" cy="1028700"/>
          </a:xfrm>
          <a:prstGeom xmlns:a="http://schemas.openxmlformats.org/drawingml/2006/main" prst="rect">
            <a:avLst/>
          </a:prstGeom>
          <a:solidFill xmlns:a="http://schemas.openxmlformats.org/drawingml/2006/main">
            <a:srgbClr val="E4575B"/>
          </a:solidFill>
          <a:ln xmlns:a="http://schemas.openxmlformats.org/drawingml/2006/main" w="0">
            <a:noFill/>
            <a:prstDash val="solid"/>
          </a:ln>
        </p:spPr>
      </p:sp>
      <p:sp>
        <p:nvSpPr>
          <p:cNvPr id="14" name="bullet-heading-6c">
            <a:extLst xmlns:a="http://schemas.openxmlformats.org/drawingml/2006/main">
              <a:ext uri="{FF2B5EF4-FFF2-40B4-BE49-F238E27FC236}">
                <a16:creationId xmlns:a16="http://schemas.microsoft.com/office/drawing/2014/main" id="{59FB7CEA-E2A3-459E-8F62-1FBF779FFA5C}"/>
              </a:ext>
            </a:extLst>
          </p:cNvPr>
          <p:cNvSpPr>
            <a:spLocks xmlns:a="http://schemas.openxmlformats.org/drawingml/2006/main" noGrp="1"/>
          </p:cNvSpPr>
          <p:nvPr/>
        </p:nvSpPr>
        <p:spPr>
          <a:xfrm xmlns:a="http://schemas.openxmlformats.org/drawingml/2006/main">
            <a:off x="8953500" y="4629150"/>
            <a:ext cx="2552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32D"/>
                </a:solidFill>
                <a:latin typeface="Aptos"/>
                <a:ea typeface="Aptos"/>
                <a:cs typeface="Aptos"/>
              </a:defRPr>
            </a:pPr>
            <a:r>
              <a:rPr sz="2400" b="1">
                <a:solidFill>
                  <a:srgbClr val="18232D"/>
                </a:solidFill>
                <a:latin typeface="Aptos"/>
                <a:ea typeface="Aptos"/>
                <a:cs typeface="Aptos"/>
              </a:rPr>
              <a:t>Different profiles</a:t>
            </a:r>
          </a:p>
        </p:txBody>
      </p:sp>
      <p:sp>
        <p:nvSpPr>
          <p:cNvPr id="15" name="bullet-body-6c">
            <a:extLst xmlns:a="http://schemas.openxmlformats.org/drawingml/2006/main">
              <a:ext uri="{FF2B5EF4-FFF2-40B4-BE49-F238E27FC236}">
                <a16:creationId xmlns:a16="http://schemas.microsoft.com/office/drawing/2014/main" id="{5C91DF4D-F522-4908-8467-06ADF36F7A92}"/>
              </a:ext>
            </a:extLst>
          </p:cNvPr>
          <p:cNvSpPr>
            <a:spLocks xmlns:a="http://schemas.openxmlformats.org/drawingml/2006/main" noGrp="1"/>
          </p:cNvSpPr>
          <p:nvPr/>
        </p:nvSpPr>
        <p:spPr>
          <a:xfrm xmlns:a="http://schemas.openxmlformats.org/drawingml/2006/main">
            <a:off x="8953500" y="50482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65717A"/>
                </a:solidFill>
                <a:latin typeface="Aptos"/>
                <a:ea typeface="Aptos"/>
                <a:cs typeface="Aptos"/>
              </a:defRPr>
            </a:pPr>
            <a:r>
              <a:rPr sz="1650">
                <a:solidFill>
                  <a:srgbClr val="65717A"/>
                </a:solidFill>
                <a:latin typeface="Aptos"/>
                <a:ea typeface="Aptos"/>
                <a:cs typeface="Aptos"/>
              </a:rPr>
              <a:t>Core and Supplemental tasks show different exposure and mode mixes.</a:t>
            </a:r>
          </a:p>
        </p:txBody>
      </p:sp>
      <p:sp>
        <p:nvSpPr>
          <p:cNvPr id="16" name="task-variation-takeaway">
            <a:extLst xmlns:a="http://schemas.openxmlformats.org/drawingml/2006/main">
              <a:ext uri="{FF2B5EF4-FFF2-40B4-BE49-F238E27FC236}">
                <a16:creationId xmlns:a16="http://schemas.microsoft.com/office/drawing/2014/main" id="{ECF9BE94-1AF9-4F04-81BD-5221485266C1}"/>
              </a:ext>
            </a:extLst>
          </p:cNvPr>
          <p:cNvSpPr>
            <a:spLocks xmlns:a="http://schemas.openxmlformats.org/drawingml/2006/main" noGrp="1"/>
          </p:cNvSpPr>
          <p:nvPr/>
        </p:nvSpPr>
        <p:spPr>
          <a:xfrm xmlns:a="http://schemas.openxmlformats.org/drawingml/2006/main">
            <a:off x="8763000" y="5905500"/>
            <a:ext cx="276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8232D"/>
                </a:solidFill>
                <a:latin typeface="Aptos"/>
                <a:ea typeface="Aptos"/>
                <a:cs typeface="Aptos"/>
              </a:defRPr>
            </a:pPr>
            <a:r>
              <a:rPr sz="1800" b="1">
                <a:solidFill>
                  <a:srgbClr val="18232D"/>
                </a:solidFill>
                <a:latin typeface="Aptos"/>
                <a:ea typeface="Aptos"/>
                <a:cs typeface="Aptos"/>
              </a:rPr>
              <a:t>A family average can hide the task mix.</a:t>
            </a:r>
          </a:p>
        </p:txBody>
      </p:sp>
      <p:sp>
        <p:nvSpPr>
          <p:cNvPr id="17" name="footer-line-6">
            <a:extLst xmlns:a="http://schemas.openxmlformats.org/drawingml/2006/main">
              <a:ext uri="{FF2B5EF4-FFF2-40B4-BE49-F238E27FC236}">
                <a16:creationId xmlns:a16="http://schemas.microsoft.com/office/drawing/2014/main" id="{BE0406D1-9EDD-49A8-9417-DC5FB6BA0FE0}"/>
              </a:ext>
            </a:extLst>
          </p:cNvPr>
          <p:cNvSpPr>
            <a:spLocks xmlns:a="http://schemas.openxmlformats.org/drawingml/2006/main" noGrp="1"/>
          </p:cNvSpPr>
          <p:nvPr/>
        </p:nvSpPr>
        <p:spPr>
          <a:xfrm xmlns:a="http://schemas.openxmlformats.org/drawingml/2006/main">
            <a:off x="647700" y="6515100"/>
            <a:ext cx="10896600" cy="0"/>
          </a:xfrm>
          <a:prstGeom xmlns:a="http://schemas.openxmlformats.org/drawingml/2006/main" prst="line">
            <a:avLst/>
          </a:prstGeom>
          <a:noFill xmlns:a="http://schemas.openxmlformats.org/drawingml/2006/main"/>
          <a:ln xmlns:a="http://schemas.openxmlformats.org/drawingml/2006/main" w="9525">
            <a:solidFill>
              <a:srgbClr val="D8D6D0"/>
            </a:solidFill>
            <a:prstDash val="solid"/>
          </a:ln>
        </p:spPr>
      </p:sp>
      <p:sp>
        <p:nvSpPr>
          <p:cNvPr id="18" name="footer-label-6">
            <a:extLst xmlns:a="http://schemas.openxmlformats.org/drawingml/2006/main">
              <a:ext uri="{FF2B5EF4-FFF2-40B4-BE49-F238E27FC236}">
                <a16:creationId xmlns:a16="http://schemas.microsoft.com/office/drawing/2014/main" id="{483694F0-F910-4420-AC6A-128A9C79863E}"/>
              </a:ext>
            </a:extLst>
          </p:cNvPr>
          <p:cNvSpPr>
            <a:spLocks xmlns:a="http://schemas.openxmlformats.org/drawingml/2006/main" noGrp="1"/>
          </p:cNvSpPr>
          <p:nvPr/>
        </p:nvSpPr>
        <p:spPr>
          <a:xfrm xmlns:a="http://schemas.openxmlformats.org/drawingml/2006/main">
            <a:off x="647700" y="6591300"/>
            <a:ext cx="457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65717A"/>
                </a:solidFill>
                <a:latin typeface="Aptos"/>
                <a:ea typeface="Aptos"/>
                <a:cs typeface="Aptos"/>
              </a:defRPr>
            </a:pPr>
            <a:r>
              <a:rPr sz="975" b="1">
                <a:solidFill>
                  <a:srgbClr val="65717A"/>
                </a:solidFill>
                <a:latin typeface="Aptos"/>
                <a:ea typeface="Aptos"/>
                <a:cs typeface="Aptos"/>
              </a:rPr>
              <a:t>AI AT WORK  /  TABLEAU FINAL PROJECT</a:t>
            </a:r>
          </a:p>
        </p:txBody>
      </p:sp>
    </p:spTree>
    <p:extLst>
      <p:ext uri="{BB962C8B-B14F-4D97-AF65-F5344CB8AC3E}">
        <p14:creationId xmlns:p14="http://schemas.microsoft.com/office/powerpoint/2010/main" val="479480424"/>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8" name="section-7">
            <a:extLst xmlns:a="http://schemas.openxmlformats.org/drawingml/2006/main">
              <a:ext uri="{FF2B5EF4-FFF2-40B4-BE49-F238E27FC236}">
                <a16:creationId xmlns:a16="http://schemas.microsoft.com/office/drawing/2014/main" id="{44858CAB-23C4-4728-8D3E-7CED5C7BA843}"/>
              </a:ext>
            </a:extLst>
          </p:cNvPr>
          <p:cNvSpPr>
            <a:spLocks xmlns:a="http://schemas.openxmlformats.org/drawingml/2006/main" noGrp="1"/>
          </p:cNvSpPr>
          <p:nvPr/>
        </p:nvSpPr>
        <p:spPr>
          <a:xfrm xmlns:a="http://schemas.openxmlformats.org/drawingml/2006/main">
            <a:off x="647700" y="3238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F39A43"/>
                </a:solidFill>
                <a:latin typeface="Aptos"/>
                <a:ea typeface="Aptos"/>
                <a:cs typeface="Aptos"/>
              </a:defRPr>
            </a:pPr>
            <a:r>
              <a:rPr sz="1200" b="1">
                <a:solidFill>
                  <a:srgbClr val="F39A43"/>
                </a:solidFill>
                <a:latin typeface="Aptos"/>
                <a:ea typeface="Aptos"/>
                <a:cs typeface="Aptos"/>
              </a:rPr>
              <a:t>FINDING 4 - OCCUPATIONAL CONTEXT</a:t>
            </a:r>
          </a:p>
        </p:txBody>
      </p:sp>
      <p:sp>
        <p:nvSpPr>
          <p:cNvPr id="2" name="page-7">
            <a:extLst xmlns:a="http://schemas.openxmlformats.org/drawingml/2006/main">
              <a:ext uri="{FF2B5EF4-FFF2-40B4-BE49-F238E27FC236}">
                <a16:creationId xmlns:a16="http://schemas.microsoft.com/office/drawing/2014/main" id="{537DE4CA-CCCC-47F2-AC0F-2C857A2FF958}"/>
              </a:ext>
            </a:extLst>
          </p:cNvPr>
          <p:cNvSpPr>
            <a:spLocks xmlns:a="http://schemas.openxmlformats.org/drawingml/2006/main" noGrp="1"/>
          </p:cNvSpPr>
          <p:nvPr/>
        </p:nvSpPr>
        <p:spPr>
          <a:xfrm xmlns:a="http://schemas.openxmlformats.org/drawingml/2006/main">
            <a:off x="11049000" y="3238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5717A"/>
                </a:solidFill>
                <a:latin typeface="Aptos"/>
                <a:ea typeface="Aptos"/>
                <a:cs typeface="Aptos"/>
              </a:defRPr>
            </a:pPr>
            <a:r>
              <a:rPr sz="1200" b="1">
                <a:solidFill>
                  <a:srgbClr val="65717A"/>
                </a:solidFill>
                <a:latin typeface="Aptos"/>
                <a:ea typeface="Aptos"/>
                <a:cs typeface="Aptos"/>
              </a:rPr>
              <a:t>07</a:t>
            </a:r>
          </a:p>
        </p:txBody>
      </p:sp>
      <p:sp>
        <p:nvSpPr>
          <p:cNvPr id="3" name="title-7">
            <a:extLst xmlns:a="http://schemas.openxmlformats.org/drawingml/2006/main">
              <a:ext uri="{FF2B5EF4-FFF2-40B4-BE49-F238E27FC236}">
                <a16:creationId xmlns:a16="http://schemas.microsoft.com/office/drawing/2014/main" id="{39FEB335-1773-440E-9B20-A1F821EDEA6B}"/>
              </a:ext>
            </a:extLst>
          </p:cNvPr>
          <p:cNvSpPr>
            <a:spLocks xmlns:a="http://schemas.openxmlformats.org/drawingml/2006/main" noGrp="1"/>
          </p:cNvSpPr>
          <p:nvPr/>
        </p:nvSpPr>
        <p:spPr>
          <a:xfrm xmlns:a="http://schemas.openxmlformats.org/drawingml/2006/main">
            <a:off x="647700" y="666750"/>
            <a:ext cx="108966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8232D"/>
                </a:solidFill>
                <a:latin typeface="Aptos"/>
                <a:ea typeface="Aptos"/>
                <a:cs typeface="Aptos"/>
              </a:defRPr>
            </a:pPr>
            <a:r>
              <a:rPr sz="3600" b="1">
                <a:solidFill>
                  <a:srgbClr val="18232D"/>
                </a:solidFill>
                <a:latin typeface="Aptos"/>
                <a:ea typeface="Aptos"/>
                <a:cs typeface="Aptos"/>
              </a:rPr>
              <a:t>Occupational context shifts the balance,</a:t>
            </a:r>
          </a:p>
          <a:p xmlns:a="http://schemas.openxmlformats.org/drawingml/2006/main">
            <a:pPr algn="l">
              <a:defRPr sz="3600" b="1">
                <a:solidFill>
                  <a:srgbClr val="18232D"/>
                </a:solidFill>
                <a:latin typeface="Aptos"/>
                <a:ea typeface="Aptos"/>
                <a:cs typeface="Aptos"/>
              </a:defRPr>
            </a:pPr>
            <a:r>
              <a:rPr sz="3600" b="1">
                <a:solidFill>
                  <a:srgbClr val="18232D"/>
                </a:solidFill>
                <a:latin typeface="Aptos"/>
                <a:ea typeface="Aptos"/>
                <a:cs typeface="Aptos"/>
              </a:rPr>
              <a:t>but the evidence is descriptive.</a:t>
            </a:r>
          </a:p>
        </p:txBody>
      </p:sp>
      <p:sp>
        <p:nvSpPr>
          <p:cNvPr id="4" name="context-dashboard-backing">
            <a:extLst xmlns:a="http://schemas.openxmlformats.org/drawingml/2006/main">
              <a:ext uri="{FF2B5EF4-FFF2-40B4-BE49-F238E27FC236}">
                <a16:creationId xmlns:a16="http://schemas.microsoft.com/office/drawing/2014/main" id="{772EBF00-302B-42CC-8DBA-DF02BA7CD523}"/>
              </a:ext>
            </a:extLst>
          </p:cNvPr>
          <p:cNvSpPr>
            <a:spLocks xmlns:a="http://schemas.openxmlformats.org/drawingml/2006/main" noGrp="1"/>
          </p:cNvSpPr>
          <p:nvPr/>
        </p:nvSpPr>
        <p:spPr>
          <a:xfrm xmlns:a="http://schemas.openxmlformats.org/drawingml/2006/main">
            <a:off x="533400" y="1695450"/>
            <a:ext cx="7353300" cy="4391025"/>
          </a:xfrm>
          <a:prstGeom xmlns:a="http://schemas.openxmlformats.org/drawingml/2006/main" prst="roundRect">
            <a:avLst>
              <a:gd name="adj" fmla="val 2169"/>
            </a:avLst>
          </a:prstGeom>
          <a:solidFill xmlns:a="http://schemas.openxmlformats.org/drawingml/2006/main">
            <a:srgbClr val="FFFFFF"/>
          </a:solidFill>
          <a:ln xmlns:a="http://schemas.openxmlformats.org/drawingml/2006/main" w="9525">
            <a:solidFill>
              <a:srgbClr val="CBCBC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2817cce8f7484ff9"/>
          <a:stretch xmlns:a="http://schemas.openxmlformats.org/drawingml/2006/main"/>
        </p:blipFill>
        <p:spPr>
          <a:xfrm xmlns:a="http://schemas.openxmlformats.org/drawingml/2006/main">
            <a:off x="590550" y="1758954"/>
            <a:ext cx="7239000" cy="4264017"/>
          </a:xfrm>
          <a:prstGeom xmlns:a="http://schemas.openxmlformats.org/drawingml/2006/main" prst="roundRect">
            <a:avLst>
              <a:gd name="adj" fmla="val 1782"/>
            </a:avLst>
          </a:prstGeom>
        </p:spPr>
      </p:pic>
      <p:sp>
        <p:nvSpPr>
          <p:cNvPr id="6" name="context-label">
            <a:extLst xmlns:a="http://schemas.openxmlformats.org/drawingml/2006/main">
              <a:ext uri="{FF2B5EF4-FFF2-40B4-BE49-F238E27FC236}">
                <a16:creationId xmlns:a16="http://schemas.microsoft.com/office/drawing/2014/main" id="{729814C3-C051-4A2E-AC1F-21D09146EC14}"/>
              </a:ext>
            </a:extLst>
          </p:cNvPr>
          <p:cNvSpPr>
            <a:spLocks xmlns:a="http://schemas.openxmlformats.org/drawingml/2006/main" noGrp="1"/>
          </p:cNvSpPr>
          <p:nvPr/>
        </p:nvSpPr>
        <p:spPr>
          <a:xfrm xmlns:a="http://schemas.openxmlformats.org/drawingml/2006/main">
            <a:off x="8229600" y="19050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39A43"/>
                </a:solidFill>
                <a:latin typeface="Aptos"/>
                <a:ea typeface="Aptos"/>
                <a:cs typeface="Aptos"/>
              </a:defRPr>
            </a:pPr>
            <a:r>
              <a:rPr sz="1275" b="1">
                <a:solidFill>
                  <a:srgbClr val="F39A43"/>
                </a:solidFill>
                <a:latin typeface="Aptos"/>
                <a:ea typeface="Aptos"/>
                <a:cs typeface="Aptos"/>
              </a:rPr>
              <a:t>WHAT THE VIEW SUGGESTS</a:t>
            </a:r>
          </a:p>
        </p:txBody>
      </p:sp>
      <p:sp>
        <p:nvSpPr>
          <p:cNvPr id="7" name="bullet-accent-7a">
            <a:extLst xmlns:a="http://schemas.openxmlformats.org/drawingml/2006/main">
              <a:ext uri="{FF2B5EF4-FFF2-40B4-BE49-F238E27FC236}">
                <a16:creationId xmlns:a16="http://schemas.microsoft.com/office/drawing/2014/main" id="{6B9A8540-0EEB-4BA0-8CFF-FFD2E16ACB93}"/>
              </a:ext>
            </a:extLst>
          </p:cNvPr>
          <p:cNvSpPr>
            <a:spLocks xmlns:a="http://schemas.openxmlformats.org/drawingml/2006/main" noGrp="1"/>
          </p:cNvSpPr>
          <p:nvPr/>
        </p:nvSpPr>
        <p:spPr>
          <a:xfrm xmlns:a="http://schemas.openxmlformats.org/drawingml/2006/main">
            <a:off x="8210550" y="2419350"/>
            <a:ext cx="47625" cy="1028700"/>
          </a:xfrm>
          <a:prstGeom xmlns:a="http://schemas.openxmlformats.org/drawingml/2006/main" prst="rect">
            <a:avLst/>
          </a:prstGeom>
          <a:solidFill xmlns:a="http://schemas.openxmlformats.org/drawingml/2006/main">
            <a:srgbClr val="F1C75B"/>
          </a:solidFill>
          <a:ln xmlns:a="http://schemas.openxmlformats.org/drawingml/2006/main" w="0">
            <a:noFill/>
            <a:prstDash val="solid"/>
          </a:ln>
        </p:spPr>
      </p:sp>
      <p:sp>
        <p:nvSpPr>
          <p:cNvPr id="8" name="bullet-heading-7a">
            <a:extLst xmlns:a="http://schemas.openxmlformats.org/drawingml/2006/main">
              <a:ext uri="{FF2B5EF4-FFF2-40B4-BE49-F238E27FC236}">
                <a16:creationId xmlns:a16="http://schemas.microsoft.com/office/drawing/2014/main" id="{17CCD69D-99CD-44BC-B093-0DF7E81EDA3A}"/>
              </a:ext>
            </a:extLst>
          </p:cNvPr>
          <p:cNvSpPr>
            <a:spLocks xmlns:a="http://schemas.openxmlformats.org/drawingml/2006/main" noGrp="1"/>
          </p:cNvSpPr>
          <p:nvPr/>
        </p:nvSpPr>
        <p:spPr>
          <a:xfrm xmlns:a="http://schemas.openxmlformats.org/drawingml/2006/main">
            <a:off x="8420100" y="2381250"/>
            <a:ext cx="30765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32D"/>
                </a:solidFill>
                <a:latin typeface="Aptos"/>
                <a:ea typeface="Aptos"/>
                <a:cs typeface="Aptos"/>
              </a:defRPr>
            </a:pPr>
            <a:r>
              <a:rPr sz="2400" b="1">
                <a:solidFill>
                  <a:srgbClr val="18232D"/>
                </a:solidFill>
                <a:latin typeface="Aptos"/>
                <a:ea typeface="Aptos"/>
                <a:cs typeface="Aptos"/>
              </a:rPr>
              <a:t>Preparation matters</a:t>
            </a:r>
          </a:p>
        </p:txBody>
      </p:sp>
      <p:sp>
        <p:nvSpPr>
          <p:cNvPr id="9" name="bullet-body-7a">
            <a:extLst xmlns:a="http://schemas.openxmlformats.org/drawingml/2006/main">
              <a:ext uri="{FF2B5EF4-FFF2-40B4-BE49-F238E27FC236}">
                <a16:creationId xmlns:a16="http://schemas.microsoft.com/office/drawing/2014/main" id="{4A4C35C6-1666-4E08-912F-95C6EDBA1CA3}"/>
              </a:ext>
            </a:extLst>
          </p:cNvPr>
          <p:cNvSpPr>
            <a:spLocks xmlns:a="http://schemas.openxmlformats.org/drawingml/2006/main" noGrp="1"/>
          </p:cNvSpPr>
          <p:nvPr/>
        </p:nvSpPr>
        <p:spPr>
          <a:xfrm xmlns:a="http://schemas.openxmlformats.org/drawingml/2006/main">
            <a:off x="8420100" y="2800350"/>
            <a:ext cx="30765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65717A"/>
                </a:solidFill>
                <a:latin typeface="Aptos"/>
                <a:ea typeface="Aptos"/>
                <a:cs typeface="Aptos"/>
              </a:defRPr>
            </a:pPr>
            <a:r>
              <a:rPr sz="1650">
                <a:solidFill>
                  <a:srgbClr val="65717A"/>
                </a:solidFill>
                <a:latin typeface="Aptos"/>
                <a:ea typeface="Aptos"/>
                <a:cs typeface="Aptos"/>
              </a:rPr>
              <a:t>The strongest augmentation balances appear at the lowest and highest preparation levels.</a:t>
            </a:r>
          </a:p>
        </p:txBody>
      </p:sp>
      <p:sp>
        <p:nvSpPr>
          <p:cNvPr id="10" name="bullet-accent-7b">
            <a:extLst xmlns:a="http://schemas.openxmlformats.org/drawingml/2006/main">
              <a:ext uri="{FF2B5EF4-FFF2-40B4-BE49-F238E27FC236}">
                <a16:creationId xmlns:a16="http://schemas.microsoft.com/office/drawing/2014/main" id="{C5E9462A-57A6-4D11-A14D-2E00424A0967}"/>
              </a:ext>
            </a:extLst>
          </p:cNvPr>
          <p:cNvSpPr>
            <a:spLocks xmlns:a="http://schemas.openxmlformats.org/drawingml/2006/main" noGrp="1"/>
          </p:cNvSpPr>
          <p:nvPr/>
        </p:nvSpPr>
        <p:spPr>
          <a:xfrm xmlns:a="http://schemas.openxmlformats.org/drawingml/2006/main">
            <a:off x="8210550" y="3714750"/>
            <a:ext cx="47625" cy="914400"/>
          </a:xfrm>
          <a:prstGeom xmlns:a="http://schemas.openxmlformats.org/drawingml/2006/main" prst="rect">
            <a:avLst/>
          </a:prstGeom>
          <a:solidFill xmlns:a="http://schemas.openxmlformats.org/drawingml/2006/main">
            <a:srgbClr val="F39A43"/>
          </a:solidFill>
          <a:ln xmlns:a="http://schemas.openxmlformats.org/drawingml/2006/main" w="0">
            <a:noFill/>
            <a:prstDash val="solid"/>
          </a:ln>
        </p:spPr>
      </p:sp>
      <p:sp>
        <p:nvSpPr>
          <p:cNvPr id="11" name="bullet-heading-7b">
            <a:extLst xmlns:a="http://schemas.openxmlformats.org/drawingml/2006/main">
              <a:ext uri="{FF2B5EF4-FFF2-40B4-BE49-F238E27FC236}">
                <a16:creationId xmlns:a16="http://schemas.microsoft.com/office/drawing/2014/main" id="{1CEEFB81-F88A-4AEB-8F7F-9B9A1962726E}"/>
              </a:ext>
            </a:extLst>
          </p:cNvPr>
          <p:cNvSpPr>
            <a:spLocks xmlns:a="http://schemas.openxmlformats.org/drawingml/2006/main" noGrp="1"/>
          </p:cNvSpPr>
          <p:nvPr/>
        </p:nvSpPr>
        <p:spPr>
          <a:xfrm xmlns:a="http://schemas.openxmlformats.org/drawingml/2006/main">
            <a:off x="8420100" y="3676650"/>
            <a:ext cx="30765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32D"/>
                </a:solidFill>
                <a:latin typeface="Aptos"/>
                <a:ea typeface="Aptos"/>
                <a:cs typeface="Aptos"/>
              </a:defRPr>
            </a:pPr>
            <a:r>
              <a:rPr sz="2400" b="1">
                <a:solidFill>
                  <a:srgbClr val="18232D"/>
                </a:solidFill>
                <a:latin typeface="Aptos"/>
                <a:ea typeface="Aptos"/>
                <a:cs typeface="Aptos"/>
              </a:rPr>
              <a:t>Direction changes</a:t>
            </a:r>
          </a:p>
        </p:txBody>
      </p:sp>
      <p:sp>
        <p:nvSpPr>
          <p:cNvPr id="12" name="bullet-body-7b">
            <a:extLst xmlns:a="http://schemas.openxmlformats.org/drawingml/2006/main">
              <a:ext uri="{FF2B5EF4-FFF2-40B4-BE49-F238E27FC236}">
                <a16:creationId xmlns:a16="http://schemas.microsoft.com/office/drawing/2014/main" id="{10A90E88-007B-4C09-8F14-7BDE259C723E}"/>
              </a:ext>
            </a:extLst>
          </p:cNvPr>
          <p:cNvSpPr>
            <a:spLocks xmlns:a="http://schemas.openxmlformats.org/drawingml/2006/main" noGrp="1"/>
          </p:cNvSpPr>
          <p:nvPr/>
        </p:nvSpPr>
        <p:spPr>
          <a:xfrm xmlns:a="http://schemas.openxmlformats.org/drawingml/2006/main">
            <a:off x="8420100" y="4095750"/>
            <a:ext cx="30765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65717A"/>
                </a:solidFill>
                <a:latin typeface="Aptos"/>
                <a:ea typeface="Aptos"/>
                <a:cs typeface="Aptos"/>
              </a:defRPr>
            </a:pPr>
            <a:r>
              <a:rPr sz="1650">
                <a:solidFill>
                  <a:srgbClr val="65717A"/>
                </a:solidFill>
                <a:latin typeface="Aptos"/>
                <a:ea typeface="Aptos"/>
                <a:cs typeface="Aptos"/>
              </a:rPr>
              <a:t>Green versus non-Green differences change direction across levels.</a:t>
            </a:r>
          </a:p>
        </p:txBody>
      </p:sp>
      <p:sp>
        <p:nvSpPr>
          <p:cNvPr id="13" name="bullet-accent-7c">
            <a:extLst xmlns:a="http://schemas.openxmlformats.org/drawingml/2006/main">
              <a:ext uri="{FF2B5EF4-FFF2-40B4-BE49-F238E27FC236}">
                <a16:creationId xmlns:a16="http://schemas.microsoft.com/office/drawing/2014/main" id="{D310895C-C721-4957-9FBC-ADC02DF42418}"/>
              </a:ext>
            </a:extLst>
          </p:cNvPr>
          <p:cNvSpPr>
            <a:spLocks xmlns:a="http://schemas.openxmlformats.org/drawingml/2006/main" noGrp="1"/>
          </p:cNvSpPr>
          <p:nvPr/>
        </p:nvSpPr>
        <p:spPr>
          <a:xfrm xmlns:a="http://schemas.openxmlformats.org/drawingml/2006/main">
            <a:off x="8210550" y="4895850"/>
            <a:ext cx="47625" cy="800100"/>
          </a:xfrm>
          <a:prstGeom xmlns:a="http://schemas.openxmlformats.org/drawingml/2006/main" prst="rect">
            <a:avLst/>
          </a:prstGeom>
          <a:solidFill xmlns:a="http://schemas.openxmlformats.org/drawingml/2006/main">
            <a:srgbClr val="E4575B"/>
          </a:solidFill>
          <a:ln xmlns:a="http://schemas.openxmlformats.org/drawingml/2006/main" w="0">
            <a:noFill/>
            <a:prstDash val="solid"/>
          </a:ln>
        </p:spPr>
      </p:sp>
      <p:sp>
        <p:nvSpPr>
          <p:cNvPr id="14" name="bullet-heading-7c">
            <a:extLst xmlns:a="http://schemas.openxmlformats.org/drawingml/2006/main">
              <a:ext uri="{FF2B5EF4-FFF2-40B4-BE49-F238E27FC236}">
                <a16:creationId xmlns:a16="http://schemas.microsoft.com/office/drawing/2014/main" id="{E1EF16DE-8426-4337-B634-CF9C94EB4C03}"/>
              </a:ext>
            </a:extLst>
          </p:cNvPr>
          <p:cNvSpPr>
            <a:spLocks xmlns:a="http://schemas.openxmlformats.org/drawingml/2006/main" noGrp="1"/>
          </p:cNvSpPr>
          <p:nvPr/>
        </p:nvSpPr>
        <p:spPr>
          <a:xfrm xmlns:a="http://schemas.openxmlformats.org/drawingml/2006/main">
            <a:off x="8420100" y="4857750"/>
            <a:ext cx="30765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32D"/>
                </a:solidFill>
                <a:latin typeface="Aptos"/>
                <a:ea typeface="Aptos"/>
                <a:cs typeface="Aptos"/>
              </a:defRPr>
            </a:pPr>
            <a:r>
              <a:rPr sz="2400" b="1">
                <a:solidFill>
                  <a:srgbClr val="18232D"/>
                </a:solidFill>
                <a:latin typeface="Aptos"/>
                <a:ea typeface="Aptos"/>
                <a:cs typeface="Aptos"/>
              </a:rPr>
              <a:t>Interpret carefully</a:t>
            </a:r>
          </a:p>
        </p:txBody>
      </p:sp>
      <p:sp>
        <p:nvSpPr>
          <p:cNvPr id="15" name="bullet-body-7c">
            <a:extLst xmlns:a="http://schemas.openxmlformats.org/drawingml/2006/main">
              <a:ext uri="{FF2B5EF4-FFF2-40B4-BE49-F238E27FC236}">
                <a16:creationId xmlns:a16="http://schemas.microsoft.com/office/drawing/2014/main" id="{5B87BB41-D856-45B9-94C5-48F7F1F367A5}"/>
              </a:ext>
            </a:extLst>
          </p:cNvPr>
          <p:cNvSpPr>
            <a:spLocks xmlns:a="http://schemas.openxmlformats.org/drawingml/2006/main" noGrp="1"/>
          </p:cNvSpPr>
          <p:nvPr/>
        </p:nvSpPr>
        <p:spPr>
          <a:xfrm xmlns:a="http://schemas.openxmlformats.org/drawingml/2006/main">
            <a:off x="8420100" y="5276850"/>
            <a:ext cx="30765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65717A"/>
                </a:solidFill>
                <a:latin typeface="Aptos"/>
                <a:ea typeface="Aptos"/>
                <a:cs typeface="Aptos"/>
              </a:defRPr>
            </a:pPr>
            <a:r>
              <a:rPr sz="1650">
                <a:solidFill>
                  <a:srgbClr val="65717A"/>
                </a:solidFill>
                <a:latin typeface="Aptos"/>
                <a:ea typeface="Aptos"/>
                <a:cs typeface="Aptos"/>
              </a:rPr>
              <a:t>These are descriptive associations, not causal effects.</a:t>
            </a:r>
          </a:p>
        </p:txBody>
      </p:sp>
      <p:sp>
        <p:nvSpPr>
          <p:cNvPr id="16" name="conclusion-band">
            <a:extLst xmlns:a="http://schemas.openxmlformats.org/drawingml/2006/main">
              <a:ext uri="{FF2B5EF4-FFF2-40B4-BE49-F238E27FC236}">
                <a16:creationId xmlns:a16="http://schemas.microsoft.com/office/drawing/2014/main" id="{F15DB617-B916-4BFE-B5E1-493D2E7448E9}"/>
              </a:ext>
            </a:extLst>
          </p:cNvPr>
          <p:cNvSpPr>
            <a:spLocks xmlns:a="http://schemas.openxmlformats.org/drawingml/2006/main" noGrp="1"/>
          </p:cNvSpPr>
          <p:nvPr/>
        </p:nvSpPr>
        <p:spPr>
          <a:xfrm xmlns:a="http://schemas.openxmlformats.org/drawingml/2006/main">
            <a:off x="0" y="6115050"/>
            <a:ext cx="12192000" cy="742950"/>
          </a:xfrm>
          <a:prstGeom xmlns:a="http://schemas.openxmlformats.org/drawingml/2006/main" prst="rect">
            <a:avLst/>
          </a:prstGeom>
          <a:solidFill xmlns:a="http://schemas.openxmlformats.org/drawingml/2006/main">
            <a:srgbClr val="18232D"/>
          </a:solidFill>
          <a:ln xmlns:a="http://schemas.openxmlformats.org/drawingml/2006/main" w="0">
            <a:noFill/>
            <a:prstDash val="solid"/>
          </a:ln>
        </p:spPr>
      </p:sp>
      <p:sp>
        <p:nvSpPr>
          <p:cNvPr id="17" name="conclusion-statement">
            <a:extLst xmlns:a="http://schemas.openxmlformats.org/drawingml/2006/main">
              <a:ext uri="{FF2B5EF4-FFF2-40B4-BE49-F238E27FC236}">
                <a16:creationId xmlns:a16="http://schemas.microsoft.com/office/drawing/2014/main" id="{AF6D1F45-7BF6-4972-88F7-154BAF72322E}"/>
              </a:ext>
            </a:extLst>
          </p:cNvPr>
          <p:cNvSpPr>
            <a:spLocks xmlns:a="http://schemas.openxmlformats.org/drawingml/2006/main" noGrp="1"/>
          </p:cNvSpPr>
          <p:nvPr/>
        </p:nvSpPr>
        <p:spPr>
          <a:xfrm xmlns:a="http://schemas.openxmlformats.org/drawingml/2006/main">
            <a:off x="647700" y="6296025"/>
            <a:ext cx="10896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75" b="1">
                <a:solidFill>
                  <a:srgbClr val="FFFFFF"/>
                </a:solidFill>
                <a:latin typeface="Aptos"/>
                <a:ea typeface="Aptos"/>
                <a:cs typeface="Aptos"/>
              </a:defRPr>
            </a:pPr>
            <a:r>
              <a:rPr sz="2175" b="1">
                <a:solidFill>
                  <a:srgbClr val="FFFFFF"/>
                </a:solidFill>
                <a:latin typeface="Aptos"/>
                <a:ea typeface="Aptos"/>
                <a:cs typeface="Aptos"/>
              </a:rPr>
              <a:t>AI is redistributing tasks - not uniformly replacing entire occupations.</a:t>
            </a:r>
          </a:p>
        </p:txBody>
      </p:sp>
    </p:spTree>
    <p:extLst>
      <p:ext uri="{BB962C8B-B14F-4D97-AF65-F5344CB8AC3E}">
        <p14:creationId xmlns:p14="http://schemas.microsoft.com/office/powerpoint/2010/main" val="281704840"/>
      </p:ext>
    </p:extLst>
  </p:cSld>
</p:sld>
</file>

<file path=ppt/slides/slide8.xml><?xml version="1.0" encoding="utf-8"?>
<p:sld xmlns:p="http://schemas.openxmlformats.org/presentationml/2006/main">
  <p:cSld>
    <p:bg>
      <p:bgPr>
        <a:solidFill xmlns:a="http://schemas.openxmlformats.org/drawingml/2006/main">
          <a:srgbClr val="18232D"/>
        </a:solidFill>
      </p:bgPr>
    </p:bg>
    <p:spTree>
      <p:nvGrpSpPr>
        <p:cNvPr id="1" name=""/>
        <p:cNvGrpSpPr/>
        <p:nvPr/>
      </p:nvGrpSpPr>
      <p:grpSpPr>
        <a:xfrm xmlns:a="http://schemas.openxmlformats.org/drawingml/2006/main"/>
      </p:grpSpPr>
      <p:sp>
        <p:nvSpPr>
          <p:cNvPr id="24" name="section-8">
            <a:extLst xmlns:a="http://schemas.openxmlformats.org/drawingml/2006/main">
              <a:ext uri="{FF2B5EF4-FFF2-40B4-BE49-F238E27FC236}">
                <a16:creationId xmlns:a16="http://schemas.microsoft.com/office/drawing/2014/main" id="{6034F58C-0FEE-4C29-9665-96BCE3E76420}"/>
              </a:ext>
            </a:extLst>
          </p:cNvPr>
          <p:cNvSpPr>
            <a:spLocks xmlns:a="http://schemas.openxmlformats.org/drawingml/2006/main" noGrp="1"/>
          </p:cNvSpPr>
          <p:nvPr/>
        </p:nvSpPr>
        <p:spPr>
          <a:xfrm xmlns:a="http://schemas.openxmlformats.org/drawingml/2006/main">
            <a:off x="647700" y="3238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E4575B"/>
                </a:solidFill>
                <a:latin typeface="Aptos"/>
                <a:ea typeface="Aptos"/>
                <a:cs typeface="Aptos"/>
              </a:defRPr>
            </a:pPr>
            <a:r>
              <a:rPr sz="1200" b="1">
                <a:solidFill>
                  <a:srgbClr val="E4575B"/>
                </a:solidFill>
                <a:latin typeface="Aptos"/>
                <a:ea typeface="Aptos"/>
                <a:cs typeface="Aptos"/>
              </a:rPr>
              <a:t>LESSONS LEARNED</a:t>
            </a:r>
          </a:p>
        </p:txBody>
      </p:sp>
      <p:sp>
        <p:nvSpPr>
          <p:cNvPr id="2" name="page-8">
            <a:extLst xmlns:a="http://schemas.openxmlformats.org/drawingml/2006/main">
              <a:ext uri="{FF2B5EF4-FFF2-40B4-BE49-F238E27FC236}">
                <a16:creationId xmlns:a16="http://schemas.microsoft.com/office/drawing/2014/main" id="{E72164BD-5AB9-46C2-907D-9207A7B5E43D}"/>
              </a:ext>
            </a:extLst>
          </p:cNvPr>
          <p:cNvSpPr>
            <a:spLocks xmlns:a="http://schemas.openxmlformats.org/drawingml/2006/main" noGrp="1"/>
          </p:cNvSpPr>
          <p:nvPr/>
        </p:nvSpPr>
        <p:spPr>
          <a:xfrm xmlns:a="http://schemas.openxmlformats.org/drawingml/2006/main">
            <a:off x="11049000" y="3238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C8D0D6"/>
                </a:solidFill>
                <a:latin typeface="Aptos"/>
                <a:ea typeface="Aptos"/>
                <a:cs typeface="Aptos"/>
              </a:defRPr>
            </a:pPr>
            <a:r>
              <a:rPr sz="1200" b="1">
                <a:solidFill>
                  <a:srgbClr val="C8D0D6"/>
                </a:solidFill>
                <a:latin typeface="Aptos"/>
                <a:ea typeface="Aptos"/>
                <a:cs typeface="Aptos"/>
              </a:rPr>
              <a:t>08</a:t>
            </a:r>
          </a:p>
        </p:txBody>
      </p:sp>
      <p:sp>
        <p:nvSpPr>
          <p:cNvPr id="3" name="title-8">
            <a:extLst xmlns:a="http://schemas.openxmlformats.org/drawingml/2006/main">
              <a:ext uri="{FF2B5EF4-FFF2-40B4-BE49-F238E27FC236}">
                <a16:creationId xmlns:a16="http://schemas.microsoft.com/office/drawing/2014/main" id="{E6E43B53-FEBE-44F6-BEEC-D888E2E965F6}"/>
              </a:ext>
            </a:extLst>
          </p:cNvPr>
          <p:cNvSpPr>
            <a:spLocks xmlns:a="http://schemas.openxmlformats.org/drawingml/2006/main" noGrp="1"/>
          </p:cNvSpPr>
          <p:nvPr/>
        </p:nvSpPr>
        <p:spPr>
          <a:xfrm xmlns:a="http://schemas.openxmlformats.org/drawingml/2006/main">
            <a:off x="647700" y="666750"/>
            <a:ext cx="10896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FFFFF"/>
                </a:solidFill>
                <a:latin typeface="Aptos"/>
                <a:ea typeface="Aptos"/>
                <a:cs typeface="Aptos"/>
              </a:defRPr>
            </a:pPr>
            <a:r>
              <a:rPr sz="3600" b="1">
                <a:solidFill>
                  <a:srgbClr val="FFFFFF"/>
                </a:solidFill>
                <a:latin typeface="Aptos"/>
                <a:ea typeface="Aptos"/>
                <a:cs typeface="Aptos"/>
              </a:rPr>
              <a:t>Clearer metrics made the story</a:t>
            </a:r>
          </a:p>
          <a:p xmlns:a="http://schemas.openxmlformats.org/drawingml/2006/main">
            <a:pPr algn="l">
              <a:defRPr sz="3600" b="1">
                <a:solidFill>
                  <a:srgbClr val="FFFFFF"/>
                </a:solidFill>
                <a:latin typeface="Aptos"/>
                <a:ea typeface="Aptos"/>
                <a:cs typeface="Aptos"/>
              </a:defRPr>
            </a:pPr>
            <a:r>
              <a:rPr sz="3600" b="1">
                <a:solidFill>
                  <a:srgbClr val="FFFFFF"/>
                </a:solidFill>
                <a:latin typeface="Aptos"/>
                <a:ea typeface="Aptos"/>
                <a:cs typeface="Aptos"/>
              </a:rPr>
              <a:t>more trustworthy.</a:t>
            </a:r>
          </a:p>
        </p:txBody>
      </p:sp>
      <p:sp>
        <p:nvSpPr>
          <p:cNvPr id="4" name="lesson-number-01">
            <a:extLst xmlns:a="http://schemas.openxmlformats.org/drawingml/2006/main">
              <a:ext uri="{FF2B5EF4-FFF2-40B4-BE49-F238E27FC236}">
                <a16:creationId xmlns:a16="http://schemas.microsoft.com/office/drawing/2014/main" id="{33088163-F1D2-4154-B3AE-C35BC30BEBE0}"/>
              </a:ext>
            </a:extLst>
          </p:cNvPr>
          <p:cNvSpPr>
            <a:spLocks xmlns:a="http://schemas.openxmlformats.org/drawingml/2006/main" noGrp="1"/>
          </p:cNvSpPr>
          <p:nvPr/>
        </p:nvSpPr>
        <p:spPr>
          <a:xfrm xmlns:a="http://schemas.openxmlformats.org/drawingml/2006/main">
            <a:off x="685800" y="20002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77B7B2"/>
                </a:solidFill>
                <a:latin typeface="Aptos"/>
                <a:ea typeface="Aptos"/>
                <a:cs typeface="Aptos"/>
              </a:defRPr>
            </a:pPr>
            <a:r>
              <a:rPr sz="1800" b="1">
                <a:solidFill>
                  <a:srgbClr val="77B7B2"/>
                </a:solidFill>
                <a:latin typeface="Aptos"/>
                <a:ea typeface="Aptos"/>
                <a:cs typeface="Aptos"/>
              </a:rPr>
              <a:t>01</a:t>
            </a:r>
          </a:p>
        </p:txBody>
      </p:sp>
      <p:sp>
        <p:nvSpPr>
          <p:cNvPr id="5" name="lesson-heading-01">
            <a:extLst xmlns:a="http://schemas.openxmlformats.org/drawingml/2006/main">
              <a:ext uri="{FF2B5EF4-FFF2-40B4-BE49-F238E27FC236}">
                <a16:creationId xmlns:a16="http://schemas.microsoft.com/office/drawing/2014/main" id="{4D39B560-EC8C-49E7-B0F2-FAB7330AE4F0}"/>
              </a:ext>
            </a:extLst>
          </p:cNvPr>
          <p:cNvSpPr>
            <a:spLocks xmlns:a="http://schemas.openxmlformats.org/drawingml/2006/main" noGrp="1"/>
          </p:cNvSpPr>
          <p:nvPr/>
        </p:nvSpPr>
        <p:spPr>
          <a:xfrm xmlns:a="http://schemas.openxmlformats.org/drawingml/2006/main">
            <a:off x="1428750" y="19812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FFFFF"/>
                </a:solidFill>
                <a:latin typeface="Aptos"/>
                <a:ea typeface="Aptos"/>
                <a:cs typeface="Aptos"/>
              </a:defRPr>
            </a:pPr>
            <a:r>
              <a:rPr sz="2400" b="1">
                <a:solidFill>
                  <a:srgbClr val="FFFFFF"/>
                </a:solidFill>
                <a:latin typeface="Aptos"/>
                <a:ea typeface="Aptos"/>
                <a:cs typeface="Aptos"/>
              </a:rPr>
              <a:t>Match measure to grain</a:t>
            </a:r>
          </a:p>
        </p:txBody>
      </p:sp>
      <p:sp>
        <p:nvSpPr>
          <p:cNvPr id="6" name="lesson-body-01">
            <a:extLst xmlns:a="http://schemas.openxmlformats.org/drawingml/2006/main">
              <a:ext uri="{FF2B5EF4-FFF2-40B4-BE49-F238E27FC236}">
                <a16:creationId xmlns:a16="http://schemas.microsoft.com/office/drawing/2014/main" id="{326B2D40-5740-49E7-B601-286AE135254A}"/>
              </a:ext>
            </a:extLst>
          </p:cNvPr>
          <p:cNvSpPr>
            <a:spLocks xmlns:a="http://schemas.openxmlformats.org/drawingml/2006/main" noGrp="1"/>
          </p:cNvSpPr>
          <p:nvPr/>
        </p:nvSpPr>
        <p:spPr>
          <a:xfrm xmlns:a="http://schemas.openxmlformats.org/drawingml/2006/main">
            <a:off x="6191250" y="1981200"/>
            <a:ext cx="52863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D3DBE0"/>
                </a:solidFill>
                <a:latin typeface="Aptos"/>
                <a:ea typeface="Aptos"/>
                <a:cs typeface="Aptos"/>
              </a:defRPr>
            </a:pPr>
            <a:r>
              <a:rPr sz="1650">
                <a:solidFill>
                  <a:srgbClr val="D3DBE0"/>
                </a:solidFill>
                <a:latin typeface="Aptos"/>
                <a:ea typeface="Aptos"/>
                <a:cs typeface="Aptos"/>
              </a:rPr>
              <a:t>Use MIN/AVG for repeated occupation/task fields; SUM exposure components.</a:t>
            </a:r>
          </a:p>
        </p:txBody>
      </p:sp>
      <p:sp>
        <p:nvSpPr>
          <p:cNvPr id="7" name="lesson-rule-01">
            <a:extLst xmlns:a="http://schemas.openxmlformats.org/drawingml/2006/main">
              <a:ext uri="{FF2B5EF4-FFF2-40B4-BE49-F238E27FC236}">
                <a16:creationId xmlns:a16="http://schemas.microsoft.com/office/drawing/2014/main" id="{607CF0AC-EAA9-4960-99E3-904CCDA40F22}"/>
              </a:ext>
            </a:extLst>
          </p:cNvPr>
          <p:cNvSpPr>
            <a:spLocks xmlns:a="http://schemas.openxmlformats.org/drawingml/2006/main" noGrp="1"/>
          </p:cNvSpPr>
          <p:nvPr/>
        </p:nvSpPr>
        <p:spPr>
          <a:xfrm xmlns:a="http://schemas.openxmlformats.org/drawingml/2006/main">
            <a:off x="1428750" y="2647950"/>
            <a:ext cx="10048875" cy="0"/>
          </a:xfrm>
          <a:prstGeom xmlns:a="http://schemas.openxmlformats.org/drawingml/2006/main" prst="line">
            <a:avLst/>
          </a:prstGeom>
          <a:noFill xmlns:a="http://schemas.openxmlformats.org/drawingml/2006/main"/>
          <a:ln xmlns:a="http://schemas.openxmlformats.org/drawingml/2006/main" w="9525">
            <a:solidFill>
              <a:srgbClr val="3D4A54"/>
            </a:solidFill>
            <a:prstDash val="solid"/>
          </a:ln>
        </p:spPr>
      </p:sp>
      <p:sp>
        <p:nvSpPr>
          <p:cNvPr id="8" name="lesson-number-02">
            <a:extLst xmlns:a="http://schemas.openxmlformats.org/drawingml/2006/main">
              <a:ext uri="{FF2B5EF4-FFF2-40B4-BE49-F238E27FC236}">
                <a16:creationId xmlns:a16="http://schemas.microsoft.com/office/drawing/2014/main" id="{4461FDC0-9746-4778-B257-CFB8C78CF8C0}"/>
              </a:ext>
            </a:extLst>
          </p:cNvPr>
          <p:cNvSpPr>
            <a:spLocks xmlns:a="http://schemas.openxmlformats.org/drawingml/2006/main" noGrp="1"/>
          </p:cNvSpPr>
          <p:nvPr/>
        </p:nvSpPr>
        <p:spPr>
          <a:xfrm xmlns:a="http://schemas.openxmlformats.org/drawingml/2006/main">
            <a:off x="685800" y="29146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E4575B"/>
                </a:solidFill>
                <a:latin typeface="Aptos"/>
                <a:ea typeface="Aptos"/>
                <a:cs typeface="Aptos"/>
              </a:defRPr>
            </a:pPr>
            <a:r>
              <a:rPr sz="1800" b="1">
                <a:solidFill>
                  <a:srgbClr val="E4575B"/>
                </a:solidFill>
                <a:latin typeface="Aptos"/>
                <a:ea typeface="Aptos"/>
                <a:cs typeface="Aptos"/>
              </a:rPr>
              <a:t>02</a:t>
            </a:r>
          </a:p>
        </p:txBody>
      </p:sp>
      <p:sp>
        <p:nvSpPr>
          <p:cNvPr id="9" name="lesson-heading-02">
            <a:extLst xmlns:a="http://schemas.openxmlformats.org/drawingml/2006/main">
              <a:ext uri="{FF2B5EF4-FFF2-40B4-BE49-F238E27FC236}">
                <a16:creationId xmlns:a16="http://schemas.microsoft.com/office/drawing/2014/main" id="{EEA6928C-4A9E-400A-80F7-3B42BE3DE37A}"/>
              </a:ext>
            </a:extLst>
          </p:cNvPr>
          <p:cNvSpPr>
            <a:spLocks xmlns:a="http://schemas.openxmlformats.org/drawingml/2006/main" noGrp="1"/>
          </p:cNvSpPr>
          <p:nvPr/>
        </p:nvSpPr>
        <p:spPr>
          <a:xfrm xmlns:a="http://schemas.openxmlformats.org/drawingml/2006/main">
            <a:off x="1428750" y="28956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FFFFF"/>
                </a:solidFill>
                <a:latin typeface="Aptos"/>
                <a:ea typeface="Aptos"/>
                <a:cs typeface="Aptos"/>
              </a:defRPr>
            </a:pPr>
            <a:r>
              <a:rPr sz="2400" b="1">
                <a:solidFill>
                  <a:srgbClr val="FFFFFF"/>
                </a:solidFill>
                <a:latin typeface="Aptos"/>
                <a:ea typeface="Aptos"/>
                <a:cs typeface="Aptos"/>
              </a:rPr>
              <a:t>Separate exposure from role</a:t>
            </a:r>
          </a:p>
        </p:txBody>
      </p:sp>
      <p:sp>
        <p:nvSpPr>
          <p:cNvPr id="10" name="lesson-body-02">
            <a:extLst xmlns:a="http://schemas.openxmlformats.org/drawingml/2006/main">
              <a:ext uri="{FF2B5EF4-FFF2-40B4-BE49-F238E27FC236}">
                <a16:creationId xmlns:a16="http://schemas.microsoft.com/office/drawing/2014/main" id="{898356FE-47A7-40F0-A6D7-C51FA54463C5}"/>
              </a:ext>
            </a:extLst>
          </p:cNvPr>
          <p:cNvSpPr>
            <a:spLocks xmlns:a="http://schemas.openxmlformats.org/drawingml/2006/main" noGrp="1"/>
          </p:cNvSpPr>
          <p:nvPr/>
        </p:nvSpPr>
        <p:spPr>
          <a:xfrm xmlns:a="http://schemas.openxmlformats.org/drawingml/2006/main">
            <a:off x="6191250" y="2895600"/>
            <a:ext cx="52863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D3DBE0"/>
                </a:solidFill>
                <a:latin typeface="Aptos"/>
                <a:ea typeface="Aptos"/>
                <a:cs typeface="Aptos"/>
              </a:defRPr>
            </a:pPr>
            <a:r>
              <a:rPr sz="1650">
                <a:solidFill>
                  <a:srgbClr val="D3DBE0"/>
                </a:solidFill>
                <a:latin typeface="Aptos"/>
                <a:ea typeface="Aptos"/>
                <a:cs typeface="Aptos"/>
              </a:rPr>
              <a:t>Ask how much AI appears and what it does as separate questions.</a:t>
            </a:r>
          </a:p>
        </p:txBody>
      </p:sp>
      <p:sp>
        <p:nvSpPr>
          <p:cNvPr id="11" name="lesson-rule-02">
            <a:extLst xmlns:a="http://schemas.openxmlformats.org/drawingml/2006/main">
              <a:ext uri="{FF2B5EF4-FFF2-40B4-BE49-F238E27FC236}">
                <a16:creationId xmlns:a16="http://schemas.microsoft.com/office/drawing/2014/main" id="{0A48DD10-DEE8-4570-87DB-969C89BE4D76}"/>
              </a:ext>
            </a:extLst>
          </p:cNvPr>
          <p:cNvSpPr>
            <a:spLocks xmlns:a="http://schemas.openxmlformats.org/drawingml/2006/main" noGrp="1"/>
          </p:cNvSpPr>
          <p:nvPr/>
        </p:nvSpPr>
        <p:spPr>
          <a:xfrm xmlns:a="http://schemas.openxmlformats.org/drawingml/2006/main">
            <a:off x="1428750" y="3562350"/>
            <a:ext cx="10048875" cy="0"/>
          </a:xfrm>
          <a:prstGeom xmlns:a="http://schemas.openxmlformats.org/drawingml/2006/main" prst="line">
            <a:avLst/>
          </a:prstGeom>
          <a:noFill xmlns:a="http://schemas.openxmlformats.org/drawingml/2006/main"/>
          <a:ln xmlns:a="http://schemas.openxmlformats.org/drawingml/2006/main" w="9525">
            <a:solidFill>
              <a:srgbClr val="3D4A54"/>
            </a:solidFill>
            <a:prstDash val="solid"/>
          </a:ln>
        </p:spPr>
      </p:sp>
      <p:sp>
        <p:nvSpPr>
          <p:cNvPr id="12" name="lesson-number-03">
            <a:extLst xmlns:a="http://schemas.openxmlformats.org/drawingml/2006/main">
              <a:ext uri="{FF2B5EF4-FFF2-40B4-BE49-F238E27FC236}">
                <a16:creationId xmlns:a16="http://schemas.microsoft.com/office/drawing/2014/main" id="{F0B027D5-A080-4CCB-B984-2B730B9B258D}"/>
              </a:ext>
            </a:extLst>
          </p:cNvPr>
          <p:cNvSpPr>
            <a:spLocks xmlns:a="http://schemas.openxmlformats.org/drawingml/2006/main" noGrp="1"/>
          </p:cNvSpPr>
          <p:nvPr/>
        </p:nvSpPr>
        <p:spPr>
          <a:xfrm xmlns:a="http://schemas.openxmlformats.org/drawingml/2006/main">
            <a:off x="685800" y="38290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39A43"/>
                </a:solidFill>
                <a:latin typeface="Aptos"/>
                <a:ea typeface="Aptos"/>
                <a:cs typeface="Aptos"/>
              </a:defRPr>
            </a:pPr>
            <a:r>
              <a:rPr sz="1800" b="1">
                <a:solidFill>
                  <a:srgbClr val="F39A43"/>
                </a:solidFill>
                <a:latin typeface="Aptos"/>
                <a:ea typeface="Aptos"/>
                <a:cs typeface="Aptos"/>
              </a:rPr>
              <a:t>03</a:t>
            </a:r>
          </a:p>
        </p:txBody>
      </p:sp>
      <p:sp>
        <p:nvSpPr>
          <p:cNvPr id="13" name="lesson-heading-03">
            <a:extLst xmlns:a="http://schemas.openxmlformats.org/drawingml/2006/main">
              <a:ext uri="{FF2B5EF4-FFF2-40B4-BE49-F238E27FC236}">
                <a16:creationId xmlns:a16="http://schemas.microsoft.com/office/drawing/2014/main" id="{E80AA8C3-F2AE-462A-81FC-CEFF14C0055D}"/>
              </a:ext>
            </a:extLst>
          </p:cNvPr>
          <p:cNvSpPr>
            <a:spLocks xmlns:a="http://schemas.openxmlformats.org/drawingml/2006/main" noGrp="1"/>
          </p:cNvSpPr>
          <p:nvPr/>
        </p:nvSpPr>
        <p:spPr>
          <a:xfrm xmlns:a="http://schemas.openxmlformats.org/drawingml/2006/main">
            <a:off x="1428750" y="38100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FFFFF"/>
                </a:solidFill>
                <a:latin typeface="Aptos"/>
                <a:ea typeface="Aptos"/>
                <a:cs typeface="Aptos"/>
              </a:defRPr>
            </a:pPr>
            <a:r>
              <a:rPr sz="2400" b="1">
                <a:solidFill>
                  <a:srgbClr val="FFFFFF"/>
                </a:solidFill>
                <a:latin typeface="Aptos"/>
                <a:ea typeface="Aptos"/>
                <a:cs typeface="Aptos"/>
              </a:rPr>
              <a:t>Choose charts by relationship</a:t>
            </a:r>
          </a:p>
        </p:txBody>
      </p:sp>
      <p:sp>
        <p:nvSpPr>
          <p:cNvPr id="14" name="lesson-body-03">
            <a:extLst xmlns:a="http://schemas.openxmlformats.org/drawingml/2006/main">
              <a:ext uri="{FF2B5EF4-FFF2-40B4-BE49-F238E27FC236}">
                <a16:creationId xmlns:a16="http://schemas.microsoft.com/office/drawing/2014/main" id="{0CDAE35F-5835-4157-9A41-6B1A16B35F48}"/>
              </a:ext>
            </a:extLst>
          </p:cNvPr>
          <p:cNvSpPr>
            <a:spLocks xmlns:a="http://schemas.openxmlformats.org/drawingml/2006/main" noGrp="1"/>
          </p:cNvSpPr>
          <p:nvPr/>
        </p:nvSpPr>
        <p:spPr>
          <a:xfrm xmlns:a="http://schemas.openxmlformats.org/drawingml/2006/main">
            <a:off x="6191250" y="3810000"/>
            <a:ext cx="52863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D3DBE0"/>
                </a:solidFill>
                <a:latin typeface="Aptos"/>
                <a:ea typeface="Aptos"/>
                <a:cs typeface="Aptos"/>
              </a:defRPr>
            </a:pPr>
            <a:r>
              <a:rPr sz="1650">
                <a:solidFill>
                  <a:srgbClr val="D3DBE0"/>
                </a:solidFill>
                <a:latin typeface="Aptos"/>
                <a:ea typeface="Aptos"/>
                <a:cs typeface="Aptos"/>
              </a:rPr>
              <a:t>Use bars to rank, 100% bars for balance, and heatmaps/scatters for association.</a:t>
            </a:r>
          </a:p>
        </p:txBody>
      </p:sp>
      <p:sp>
        <p:nvSpPr>
          <p:cNvPr id="15" name="lesson-rule-03">
            <a:extLst xmlns:a="http://schemas.openxmlformats.org/drawingml/2006/main">
              <a:ext uri="{FF2B5EF4-FFF2-40B4-BE49-F238E27FC236}">
                <a16:creationId xmlns:a16="http://schemas.microsoft.com/office/drawing/2014/main" id="{1D8809F4-45FF-4DE7-8B4E-FF8C156E155D}"/>
              </a:ext>
            </a:extLst>
          </p:cNvPr>
          <p:cNvSpPr>
            <a:spLocks xmlns:a="http://schemas.openxmlformats.org/drawingml/2006/main" noGrp="1"/>
          </p:cNvSpPr>
          <p:nvPr/>
        </p:nvSpPr>
        <p:spPr>
          <a:xfrm xmlns:a="http://schemas.openxmlformats.org/drawingml/2006/main">
            <a:off x="1428750" y="4476750"/>
            <a:ext cx="10048875" cy="0"/>
          </a:xfrm>
          <a:prstGeom xmlns:a="http://schemas.openxmlformats.org/drawingml/2006/main" prst="line">
            <a:avLst/>
          </a:prstGeom>
          <a:noFill xmlns:a="http://schemas.openxmlformats.org/drawingml/2006/main"/>
          <a:ln xmlns:a="http://schemas.openxmlformats.org/drawingml/2006/main" w="9525">
            <a:solidFill>
              <a:srgbClr val="3D4A54"/>
            </a:solidFill>
            <a:prstDash val="solid"/>
          </a:ln>
        </p:spPr>
      </p:sp>
      <p:sp>
        <p:nvSpPr>
          <p:cNvPr id="16" name="lesson-number-04">
            <a:extLst xmlns:a="http://schemas.openxmlformats.org/drawingml/2006/main">
              <a:ext uri="{FF2B5EF4-FFF2-40B4-BE49-F238E27FC236}">
                <a16:creationId xmlns:a16="http://schemas.microsoft.com/office/drawing/2014/main" id="{3829B031-BD30-42EF-82DD-32FDD73D3948}"/>
              </a:ext>
            </a:extLst>
          </p:cNvPr>
          <p:cNvSpPr>
            <a:spLocks xmlns:a="http://schemas.openxmlformats.org/drawingml/2006/main" noGrp="1"/>
          </p:cNvSpPr>
          <p:nvPr/>
        </p:nvSpPr>
        <p:spPr>
          <a:xfrm xmlns:a="http://schemas.openxmlformats.org/drawingml/2006/main">
            <a:off x="685800" y="47434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1C75B"/>
                </a:solidFill>
                <a:latin typeface="Aptos"/>
                <a:ea typeface="Aptos"/>
                <a:cs typeface="Aptos"/>
              </a:defRPr>
            </a:pPr>
            <a:r>
              <a:rPr sz="1800" b="1">
                <a:solidFill>
                  <a:srgbClr val="F1C75B"/>
                </a:solidFill>
                <a:latin typeface="Aptos"/>
                <a:ea typeface="Aptos"/>
                <a:cs typeface="Aptos"/>
              </a:rPr>
              <a:t>04</a:t>
            </a:r>
          </a:p>
        </p:txBody>
      </p:sp>
      <p:sp>
        <p:nvSpPr>
          <p:cNvPr id="17" name="lesson-heading-04">
            <a:extLst xmlns:a="http://schemas.openxmlformats.org/drawingml/2006/main">
              <a:ext uri="{FF2B5EF4-FFF2-40B4-BE49-F238E27FC236}">
                <a16:creationId xmlns:a16="http://schemas.microsoft.com/office/drawing/2014/main" id="{897E5640-7592-48EC-969D-53F5937145D4}"/>
              </a:ext>
            </a:extLst>
          </p:cNvPr>
          <p:cNvSpPr>
            <a:spLocks xmlns:a="http://schemas.openxmlformats.org/drawingml/2006/main" noGrp="1"/>
          </p:cNvSpPr>
          <p:nvPr/>
        </p:nvSpPr>
        <p:spPr>
          <a:xfrm xmlns:a="http://schemas.openxmlformats.org/drawingml/2006/main">
            <a:off x="1428750" y="47244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FFFFF"/>
                </a:solidFill>
                <a:latin typeface="Aptos"/>
                <a:ea typeface="Aptos"/>
                <a:cs typeface="Aptos"/>
              </a:defRPr>
            </a:pPr>
            <a:r>
              <a:rPr sz="2400" b="1">
                <a:solidFill>
                  <a:srgbClr val="FFFFFF"/>
                </a:solidFill>
                <a:latin typeface="Aptos"/>
                <a:ea typeface="Aptos"/>
                <a:cs typeface="Aptos"/>
              </a:rPr>
              <a:t>Make confidence visible</a:t>
            </a:r>
          </a:p>
        </p:txBody>
      </p:sp>
      <p:sp>
        <p:nvSpPr>
          <p:cNvPr id="18" name="lesson-body-04">
            <a:extLst xmlns:a="http://schemas.openxmlformats.org/drawingml/2006/main">
              <a:ext uri="{FF2B5EF4-FFF2-40B4-BE49-F238E27FC236}">
                <a16:creationId xmlns:a16="http://schemas.microsoft.com/office/drawing/2014/main" id="{AA058BE6-5A52-439C-A1B2-AF889DF9EE1E}"/>
              </a:ext>
            </a:extLst>
          </p:cNvPr>
          <p:cNvSpPr>
            <a:spLocks xmlns:a="http://schemas.openxmlformats.org/drawingml/2006/main" noGrp="1"/>
          </p:cNvSpPr>
          <p:nvPr/>
        </p:nvSpPr>
        <p:spPr>
          <a:xfrm xmlns:a="http://schemas.openxmlformats.org/drawingml/2006/main">
            <a:off x="6191250" y="4724400"/>
            <a:ext cx="52863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D3DBE0"/>
                </a:solidFill>
                <a:latin typeface="Aptos"/>
                <a:ea typeface="Aptos"/>
                <a:cs typeface="Aptos"/>
              </a:defRPr>
            </a:pPr>
            <a:r>
              <a:rPr sz="1650">
                <a:solidFill>
                  <a:srgbClr val="D3DBE0"/>
                </a:solidFill>
                <a:latin typeface="Aptos"/>
                <a:ea typeface="Aptos"/>
                <a:cs typeface="Aptos"/>
              </a:rPr>
              <a:t>Show exposure, task count, and coverage; label controls; remove nulls; lock semantic colors.</a:t>
            </a:r>
          </a:p>
        </p:txBody>
      </p:sp>
      <p:sp>
        <p:nvSpPr>
          <p:cNvPr id="19" name="lesson-rule-04">
            <a:extLst xmlns:a="http://schemas.openxmlformats.org/drawingml/2006/main">
              <a:ext uri="{FF2B5EF4-FFF2-40B4-BE49-F238E27FC236}">
                <a16:creationId xmlns:a16="http://schemas.microsoft.com/office/drawing/2014/main" id="{88F20E43-2951-4BB0-9863-2280E26F2BFD}"/>
              </a:ext>
            </a:extLst>
          </p:cNvPr>
          <p:cNvSpPr>
            <a:spLocks xmlns:a="http://schemas.openxmlformats.org/drawingml/2006/main" noGrp="1"/>
          </p:cNvSpPr>
          <p:nvPr/>
        </p:nvSpPr>
        <p:spPr>
          <a:xfrm xmlns:a="http://schemas.openxmlformats.org/drawingml/2006/main">
            <a:off x="1428750" y="5391150"/>
            <a:ext cx="10048875" cy="0"/>
          </a:xfrm>
          <a:prstGeom xmlns:a="http://schemas.openxmlformats.org/drawingml/2006/main" prst="line">
            <a:avLst/>
          </a:prstGeom>
          <a:noFill xmlns:a="http://schemas.openxmlformats.org/drawingml/2006/main"/>
          <a:ln xmlns:a="http://schemas.openxmlformats.org/drawingml/2006/main" w="9525">
            <a:solidFill>
              <a:srgbClr val="3D4A54"/>
            </a:solidFill>
            <a:prstDash val="solid"/>
          </a:ln>
        </p:spPr>
      </p:sp>
      <p:sp>
        <p:nvSpPr>
          <p:cNvPr id="20" name="closing-question-one">
            <a:extLst xmlns:a="http://schemas.openxmlformats.org/drawingml/2006/main">
              <a:ext uri="{FF2B5EF4-FFF2-40B4-BE49-F238E27FC236}">
                <a16:creationId xmlns:a16="http://schemas.microsoft.com/office/drawing/2014/main" id="{C5685EC8-90ED-4FCD-947C-CE2C73AFA2A9}"/>
              </a:ext>
            </a:extLst>
          </p:cNvPr>
          <p:cNvSpPr>
            <a:spLocks xmlns:a="http://schemas.openxmlformats.org/drawingml/2006/main" noGrp="1"/>
          </p:cNvSpPr>
          <p:nvPr/>
        </p:nvSpPr>
        <p:spPr>
          <a:xfrm xmlns:a="http://schemas.openxmlformats.org/drawingml/2006/main">
            <a:off x="685800" y="5791200"/>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a:solidFill>
                  <a:srgbClr val="D3DBE0"/>
                </a:solidFill>
                <a:latin typeface="Aptos"/>
                <a:ea typeface="Aptos"/>
                <a:cs typeface="Aptos"/>
              </a:defRPr>
            </a:pPr>
            <a:r>
              <a:rPr sz="1875">
                <a:solidFill>
                  <a:srgbClr val="D3DBE0"/>
                </a:solidFill>
                <a:latin typeface="Aptos"/>
                <a:ea typeface="Aptos"/>
                <a:cs typeface="Aptos"/>
              </a:rPr>
              <a:t>The better question is not "Will AI replace jobs?"</a:t>
            </a:r>
          </a:p>
        </p:txBody>
      </p:sp>
      <p:sp>
        <p:nvSpPr>
          <p:cNvPr id="21" name="closing-question-two">
            <a:extLst xmlns:a="http://schemas.openxmlformats.org/drawingml/2006/main">
              <a:ext uri="{FF2B5EF4-FFF2-40B4-BE49-F238E27FC236}">
                <a16:creationId xmlns:a16="http://schemas.microsoft.com/office/drawing/2014/main" id="{B43B7D8D-6D58-4713-B6F8-E618C2E91055}"/>
              </a:ext>
            </a:extLst>
          </p:cNvPr>
          <p:cNvSpPr>
            <a:spLocks xmlns:a="http://schemas.openxmlformats.org/drawingml/2006/main" noGrp="1"/>
          </p:cNvSpPr>
          <p:nvPr/>
        </p:nvSpPr>
        <p:spPr>
          <a:xfrm xmlns:a="http://schemas.openxmlformats.org/drawingml/2006/main">
            <a:off x="6191250" y="5753100"/>
            <a:ext cx="5286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FFFFF"/>
                </a:solidFill>
                <a:latin typeface="Aptos"/>
                <a:ea typeface="Aptos"/>
                <a:cs typeface="Aptos"/>
              </a:defRPr>
            </a:pPr>
            <a:r>
              <a:rPr sz="2400" b="1">
                <a:solidFill>
                  <a:srgbClr val="FFFFFF"/>
                </a:solidFill>
                <a:latin typeface="Aptos"/>
                <a:ea typeface="Aptos"/>
                <a:cs typeface="Aptos"/>
              </a:rPr>
              <a:t>It is "How is AI reallocating tasks between humans and machines?"</a:t>
            </a:r>
          </a:p>
        </p:txBody>
      </p:sp>
      <p:sp>
        <p:nvSpPr>
          <p:cNvPr id="22" name="footer-line-8">
            <a:extLst xmlns:a="http://schemas.openxmlformats.org/drawingml/2006/main">
              <a:ext uri="{FF2B5EF4-FFF2-40B4-BE49-F238E27FC236}">
                <a16:creationId xmlns:a16="http://schemas.microsoft.com/office/drawing/2014/main" id="{0D2470B5-C0A0-43BE-9763-4CA4B13A16BA}"/>
              </a:ext>
            </a:extLst>
          </p:cNvPr>
          <p:cNvSpPr>
            <a:spLocks xmlns:a="http://schemas.openxmlformats.org/drawingml/2006/main" noGrp="1"/>
          </p:cNvSpPr>
          <p:nvPr/>
        </p:nvSpPr>
        <p:spPr>
          <a:xfrm xmlns:a="http://schemas.openxmlformats.org/drawingml/2006/main">
            <a:off x="647700" y="6515100"/>
            <a:ext cx="10896600" cy="0"/>
          </a:xfrm>
          <a:prstGeom xmlns:a="http://schemas.openxmlformats.org/drawingml/2006/main" prst="line">
            <a:avLst/>
          </a:prstGeom>
          <a:noFill xmlns:a="http://schemas.openxmlformats.org/drawingml/2006/main"/>
          <a:ln xmlns:a="http://schemas.openxmlformats.org/drawingml/2006/main" w="9525">
            <a:solidFill>
              <a:srgbClr val="52606B"/>
            </a:solidFill>
            <a:prstDash val="solid"/>
          </a:ln>
        </p:spPr>
      </p:sp>
      <p:sp>
        <p:nvSpPr>
          <p:cNvPr id="23" name="footer-label-8">
            <a:extLst xmlns:a="http://schemas.openxmlformats.org/drawingml/2006/main">
              <a:ext uri="{FF2B5EF4-FFF2-40B4-BE49-F238E27FC236}">
                <a16:creationId xmlns:a16="http://schemas.microsoft.com/office/drawing/2014/main" id="{66897EEE-81B5-47B0-9495-98857D76F840}"/>
              </a:ext>
            </a:extLst>
          </p:cNvPr>
          <p:cNvSpPr>
            <a:spLocks xmlns:a="http://schemas.openxmlformats.org/drawingml/2006/main" noGrp="1"/>
          </p:cNvSpPr>
          <p:nvPr/>
        </p:nvSpPr>
        <p:spPr>
          <a:xfrm xmlns:a="http://schemas.openxmlformats.org/drawingml/2006/main">
            <a:off x="647700" y="6591300"/>
            <a:ext cx="457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AEB9C1"/>
                </a:solidFill>
                <a:latin typeface="Aptos"/>
                <a:ea typeface="Aptos"/>
                <a:cs typeface="Aptos"/>
              </a:defRPr>
            </a:pPr>
            <a:r>
              <a:rPr sz="975" b="1">
                <a:solidFill>
                  <a:srgbClr val="AEB9C1"/>
                </a:solidFill>
                <a:latin typeface="Aptos"/>
                <a:ea typeface="Aptos"/>
                <a:cs typeface="Aptos"/>
              </a:rPr>
              <a:t>AI AT WORK  /  TABLEAU FINAL PROJECT</a:t>
            </a:r>
          </a:p>
        </p:txBody>
      </p:sp>
    </p:spTree>
    <p:extLst>
      <p:ext uri="{BB962C8B-B14F-4D97-AF65-F5344CB8AC3E}">
        <p14:creationId xmlns:p14="http://schemas.microsoft.com/office/powerpoint/2010/main" val="12411087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2026-08-12T06:19:13.7380000Z</dcterms:created>
  <dcterms:modified xsi:type="dcterms:W3CDTF">2026-08-12T06:19:13.7380000Z</dcterms:modified>
</coreProperties>
</file>